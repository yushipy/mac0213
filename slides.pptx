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Ola, meu nome e Gabriel Freire Ushijima, sou estudante de Ciencia da Computacao na USP. Este video apresenta o trabalho que realizei na disciplina MAC0213, Atividade Curricular em Comunidade, no primeiro semestre de 2026, atuando como monitor de matematica na Escola Estadual Ibrahim Nobre.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Escola Estadual Ibrahim Nobre fica no bairro de Campo Grande, na zona sul de Sao Paulo, e atende exclusivamente alunos do ensino medio. Ela faz parte do Programa Ensino Integral, o PEI, que preve jornada ampliada. Mas, como tantas escolas publicas, ela enfrenta desafios estruturais serios: atrasos salariais, falta de pessoal, professores lecionando fora de sua area de formacao. Antes de iniciar as monitorias, participei de uma reuniao com os professores, na qual ficou evidente a preocupacao coletiva com o desempenho em exatas, especialmente matematica, por seu papel transversal no aprendizado das outras disciplinas.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objetivo geral da atividade e contribuir com o aprendizado de matematica de alunos da rede publica que apresentam dificuldades significativas. No terceiro ano, as tercas, o foco e nivelar o conhecimento dos alunos com mais dificuldade, visando o vestibular e competencias aplicaveis a vida. No primeiro ano, as quartas, o objetivo e garantir que os alunos iniciem o ensino medio com a base necessaria, evitando o acumulo de lacunas conceituais ao longo dos tres anos.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visita a escola seguia a mesma estrutura: trinta minutos de reuniao previa com o professor para alinhar o conteudo, duas horas de aula com os alunos, durante as quais eu circulava pela sala auxiliando individualmente, e trinta minutos de reuniao posterior para avaliar a aula e planejar revisoes. No total, cada visita correspondia a tres horas de atividade.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Ao longo do semestre, trabalhei com quatro professores: o professor Agnaldo, nas tercas, de marco a maio, no nivelamento do terceiro ano; a professora Ione, que assumiu a eletiva do primeiro ano nas quartas desde abril e tambem passou a acompanhar o nivelamento do terceiro ano nas tercas a partir de junho; o professor Paulo, nas quartas, no inicio do semestre; e o professor Francisco, com uma turma propria do terceiro ano em junho. Eventos excepcionais, como o Provao Paulista e a OBMEP, ocasionalmente alteraram a turma acompanhada, mas isso ocorreu apenas em casos isolados. No total, realizei trinta e quatro visitas a escola, somando cento e duas horas de atividade, superando as cem horas exigidas pela disciplina.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cronograma cobriu marco a junho, totalizando trinta e quatro aulas. Marco e junho tiveram nove aulas cada, vinte e sete horas; abril e maio tiveram oito aulas cada, vinte e quatro horas. Esses numeros nao contam reunioes de orientacao academica, apenas as visitas efetivas a escola, que ja incluem as reunioes de alinhamento com os professores da escola, parte inerente da atividade de monitoria.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aulas de nivelamento do terceiro ano revelaram um padrao consistente: dificuldades profundas em aritmetica basica comprometendo conteudos mais avancados, do tipo notacao cientifica e porcentagem ate funcoes e equacoes do segundo grau. Um padrao preocupante foi a aplicacao mecanica da formula de Bhaskara a qualquer expressao quadratica, mesmo quando o problema nao pedia as raizes, evidenciando memorizacao sem compreensao. Em contraste, ao acompanhar uma turma regular de segundo ano, sem concentracao de defasagem, os alunos demonstraram muito mais autonomia. Apesar dos obstaculos, a autonomia da turma de nivelamento cresceu ao longo do semestre, sobretudo quando o conteudo era apresentado de forma gradual e concreta.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aulas do primeiro ano evidenciaram dificuldades ainda mais fundamentais, incluindo o conceito de numeros negativos. A tabuada foi um obstaculo persistente ao longo do semestre: mesmo em maio, muitos alunos recorriam a colinha para multiplicacoes elementares. O principal desafio, porem, foi o engajamento: em diversas aulas, apenas metade da sala tentava resolver os exercicios. Ainda assim, houve pontos positivos: tecnicas visuais e diretas, como a regra da borboleta para soma de fracoes, foram assimiladas com facilidade, e a turma do terceiro ano acompanhada pelo professor Francisco mostrou maior engajamento, reforcando a importancia de intervir precocemente nas defasagens.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atividade evidenciou que as dificuldades dos alunos nao se restringem ao conteudo matematico: incluem dificuldades de leitura e interpretacao de enunciados, baixo engajamento com a escola e ausencia de habitos de estudo. Ainda assim, a presenca de um monitor circulando individualmente entre os alunos mostrou-se valiosa. Diversos alunos agradeceram pessoalmente pela monitoria, relatando preferir a forma como eu explicava os conteudos e se sentir mais confortaveis recorrendo a um monitor do que ao professor, possivelmente por perceberem essa figura como mais acessivel.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atividade de monitoria na Escola Estadual Ibrahim Nobre foi uma experiencia significativa, tanto pelo impacto nos alunos quanto pelo meu proprio desenvolvimento. Os resultados mostram que e possivel causar impacto positivo mesmo dentro das limitacoes estruturais do sistema. Como proximos passos, seria interessante estruturar intervencoes mais sistematicas para a tabuada no primeiro ano, e desenvolver materiais que conectem procedimentos algebricos a sua interpretacao conceitual no terceiro ano, reduzindo a tendencia a aplicacao mecanica de formulas.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meio de acompanhamento publico do projeto, todas as visitas foram registradas continuamente em um repositorio no GitHub, github.com/YushiPy/MAC0213, no qual cada visita foi documentada por meio de um commit individual no arquivo README. Obrigado pela atencao.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3E"/>
        </a:solidFill>
      </p:bgPr>
    </p:bg>
    <p:spTree>
      <p:nvGrpSpPr>
        <p:cNvPr id="1" name=""/>
        <p:cNvGrpSpPr/>
        <p:nvPr/>
      </p:nvGrpSpPr>
      <p:grpSpPr>
        <a:xfrm>
          <a:off x="0" y="0"/>
          <a:ext cx="0" cy="0"/>
          <a:chOff x="0" y="0"/>
          <a:chExt cx="0" cy="0"/>
        </a:xfrm>
      </p:grpSpPr>
      <p:sp>
        <p:nvSpPr>
          <p:cNvPr id="2" name="Shape 0"/>
          <p:cNvSpPr/>
          <p:nvPr/>
        </p:nvSpPr>
        <p:spPr>
          <a:xfrm>
            <a:off x="9692640" y="-1097280"/>
            <a:ext cx="4114800" cy="4114800"/>
          </a:xfrm>
          <a:prstGeom prst="ellipse">
            <a:avLst/>
          </a:prstGeom>
          <a:solidFill>
            <a:srgbClr val="1C6E6F">
              <a:alpha val="40000"/>
            </a:srgbClr>
          </a:solidFill>
          <a:ln/>
        </p:spPr>
      </p:sp>
      <p:sp>
        <p:nvSpPr>
          <p:cNvPr id="3" name="Shape 1"/>
          <p:cNvSpPr/>
          <p:nvPr/>
        </p:nvSpPr>
        <p:spPr>
          <a:xfrm>
            <a:off x="-1371600" y="4572000"/>
            <a:ext cx="3657600" cy="3657600"/>
          </a:xfrm>
          <a:prstGeom prst="ellipse">
            <a:avLst/>
          </a:prstGeom>
          <a:solidFill>
            <a:srgbClr val="1C6E6F">
              <a:alpha val="30000"/>
            </a:srgbClr>
          </a:solidFill>
          <a:ln/>
        </p:spPr>
      </p:sp>
      <p:sp>
        <p:nvSpPr>
          <p:cNvPr id="4" name="Text 2"/>
          <p:cNvSpPr/>
          <p:nvPr/>
        </p:nvSpPr>
        <p:spPr>
          <a:xfrm>
            <a:off x="822960" y="1280160"/>
            <a:ext cx="10515600" cy="457200"/>
          </a:xfrm>
          <a:prstGeom prst="rect">
            <a:avLst/>
          </a:prstGeom>
          <a:noFill/>
          <a:ln/>
        </p:spPr>
        <p:txBody>
          <a:bodyPr wrap="square" lIns="0" tIns="0" rIns="0" bIns="0" rtlCol="0" anchor="ctr"/>
          <a:lstStyle/>
          <a:p>
            <a:pPr indent="0" marL="0">
              <a:buNone/>
            </a:pPr>
            <a:r>
              <a:rPr lang="en-US" sz="1400" b="1" spc="200" kern="0" dirty="0">
                <a:solidFill>
                  <a:srgbClr val="5FA8A0"/>
                </a:solidFill>
                <a:latin typeface="Calibri" pitchFamily="34" charset="0"/>
                <a:ea typeface="Calibri" pitchFamily="34" charset="-122"/>
                <a:cs typeface="Calibri" pitchFamily="34" charset="-120"/>
              </a:rPr>
              <a:t>MAC0213 — ATIVIDADE CURRICULAR EM COMUNIDADE</a:t>
            </a:r>
            <a:endParaRPr lang="en-US" sz="1400" dirty="0"/>
          </a:p>
        </p:txBody>
      </p:sp>
      <p:sp>
        <p:nvSpPr>
          <p:cNvPr id="5" name="Text 3"/>
          <p:cNvSpPr/>
          <p:nvPr/>
        </p:nvSpPr>
        <p:spPr>
          <a:xfrm>
            <a:off x="822960" y="1828800"/>
            <a:ext cx="10058400" cy="1828800"/>
          </a:xfrm>
          <a:prstGeom prst="rect">
            <a:avLst/>
          </a:prstGeom>
          <a:noFill/>
          <a:ln/>
        </p:spPr>
        <p:txBody>
          <a:bodyPr wrap="square" lIns="0" tIns="0" rIns="0" bIns="0" rtlCol="0" anchor="ctr"/>
          <a:lstStyle/>
          <a:p>
            <a:pPr indent="0" marL="0">
              <a:lnSpc>
                <a:spcPct val="110000"/>
              </a:lnSpc>
              <a:buNone/>
            </a:pPr>
            <a:r>
              <a:rPr lang="en-US" sz="4000" b="1" dirty="0">
                <a:solidFill>
                  <a:srgbClr val="FFFFFF"/>
                </a:solidFill>
                <a:latin typeface="Cambria" pitchFamily="34" charset="0"/>
                <a:ea typeface="Cambria" pitchFamily="34" charset="-122"/>
                <a:cs typeface="Cambria" pitchFamily="34" charset="-120"/>
              </a:rPr>
              <a:t>Monitoria de Matemática na</a:t>
            </a:r>
            <a:endParaRPr lang="en-US" sz="4000" dirty="0"/>
          </a:p>
          <a:p>
            <a:pPr indent="0" marL="0">
              <a:lnSpc>
                <a:spcPct val="110000"/>
              </a:lnSpc>
              <a:buNone/>
            </a:pPr>
            <a:r>
              <a:rPr lang="en-US" sz="4000" b="1" dirty="0">
                <a:solidFill>
                  <a:srgbClr val="FFFFFF"/>
                </a:solidFill>
                <a:latin typeface="Cambria" pitchFamily="34" charset="0"/>
                <a:ea typeface="Cambria" pitchFamily="34" charset="-122"/>
                <a:cs typeface="Cambria" pitchFamily="34" charset="-120"/>
              </a:rPr>
              <a:t>Escola Estadual Ibrahim Nobre</a:t>
            </a:r>
            <a:endParaRPr lang="en-US" sz="4000" dirty="0"/>
          </a:p>
        </p:txBody>
      </p:sp>
      <p:sp>
        <p:nvSpPr>
          <p:cNvPr id="6" name="Shape 4"/>
          <p:cNvSpPr/>
          <p:nvPr/>
        </p:nvSpPr>
        <p:spPr>
          <a:xfrm>
            <a:off x="822960" y="3977640"/>
            <a:ext cx="502920" cy="502920"/>
          </a:xfrm>
          <a:prstGeom prst="ellipse">
            <a:avLst/>
          </a:prstGeom>
          <a:solidFill>
            <a:srgbClr val="5FA8A0"/>
          </a:solidFill>
          <a:ln/>
        </p:spPr>
      </p:sp>
      <p:pic>
        <p:nvPicPr>
          <p:cNvPr id="7" name="Image 0" descr="preencoded.png">    </p:cNvPr>
          <p:cNvPicPr>
            <a:picLocks noChangeAspect="1"/>
          </p:cNvPicPr>
          <p:nvPr/>
        </p:nvPicPr>
        <p:blipFill>
          <a:blip r:embed="rId1"/>
          <a:stretch>
            <a:fillRect/>
          </a:stretch>
        </p:blipFill>
        <p:spPr>
          <a:xfrm>
            <a:off x="914400" y="4069080"/>
            <a:ext cx="320040" cy="320040"/>
          </a:xfrm>
          <a:prstGeom prst="rect">
            <a:avLst/>
          </a:prstGeom>
        </p:spPr>
      </p:pic>
      <p:sp>
        <p:nvSpPr>
          <p:cNvPr id="8" name="Text 5"/>
          <p:cNvSpPr/>
          <p:nvPr/>
        </p:nvSpPr>
        <p:spPr>
          <a:xfrm>
            <a:off x="1463040" y="3977640"/>
            <a:ext cx="8229600" cy="502920"/>
          </a:xfrm>
          <a:prstGeom prst="rect">
            <a:avLst/>
          </a:prstGeom>
          <a:noFill/>
          <a:ln/>
        </p:spPr>
        <p:txBody>
          <a:bodyPr wrap="square" lIns="0" tIns="0" rIns="0" bIns="0" rtlCol="0" anchor="ctr"/>
          <a:lstStyle/>
          <a:p>
            <a:pPr indent="0" marL="0">
              <a:buNone/>
            </a:pPr>
            <a:r>
              <a:rPr lang="en-US" sz="1600" dirty="0">
                <a:solidFill>
                  <a:srgbClr val="C9DEDC"/>
                </a:solidFill>
                <a:latin typeface="Calibri" pitchFamily="34" charset="0"/>
                <a:ea typeface="Calibri" pitchFamily="34" charset="-122"/>
                <a:cs typeface="Calibri" pitchFamily="34" charset="-120"/>
              </a:rPr>
              <a:t>Primeiro semestre de 2026 · Campo Grande, Zona Sul de São Paulo</a:t>
            </a:r>
            <a:endParaRPr lang="en-US" sz="1600" dirty="0"/>
          </a:p>
        </p:txBody>
      </p:sp>
      <p:sp>
        <p:nvSpPr>
          <p:cNvPr id="9" name="Text 6"/>
          <p:cNvSpPr/>
          <p:nvPr/>
        </p:nvSpPr>
        <p:spPr>
          <a:xfrm>
            <a:off x="822960" y="5852160"/>
            <a:ext cx="731520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Gabriel Freire Ushijima</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Supervisor: Prof. Dr. Ernesto G. Birgin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3657600" cy="365760"/>
          </a:xfrm>
          <a:prstGeom prst="rect">
            <a:avLst/>
          </a:prstGeom>
          <a:noFill/>
          <a:ln/>
        </p:spPr>
        <p:txBody>
          <a:bodyPr wrap="square" lIns="0" tIns="0" rIns="0" bIns="0" rtlCol="0" anchor="ctr"/>
          <a:lstStyle/>
          <a:p>
            <a:pPr indent="0" marL="0">
              <a:buNone/>
            </a:pPr>
            <a:r>
              <a:rPr lang="en-US" sz="1300" b="1" spc="200" kern="0" dirty="0">
                <a:solidFill>
                  <a:srgbClr val="5FA8A0"/>
                </a:solidFill>
                <a:latin typeface="Calibri" pitchFamily="34" charset="0"/>
                <a:ea typeface="Calibri" pitchFamily="34" charset="-122"/>
                <a:cs typeface="Calibri" pitchFamily="34" charset="-120"/>
              </a:rPr>
              <a:t>CONTEXTO</a:t>
            </a:r>
            <a:endParaRPr lang="en-US" sz="1300" dirty="0"/>
          </a:p>
        </p:txBody>
      </p:sp>
      <p:sp>
        <p:nvSpPr>
          <p:cNvPr id="3" name="Text 1"/>
          <p:cNvSpPr/>
          <p:nvPr/>
        </p:nvSpPr>
        <p:spPr>
          <a:xfrm>
            <a:off x="548640" y="777240"/>
            <a:ext cx="8229600" cy="548640"/>
          </a:xfrm>
          <a:prstGeom prst="rect">
            <a:avLst/>
          </a:prstGeom>
          <a:noFill/>
          <a:ln/>
        </p:spPr>
        <p:txBody>
          <a:bodyPr wrap="square" lIns="0" tIns="0" rIns="0" bIns="0" rtlCol="0" anchor="ctr"/>
          <a:lstStyle/>
          <a:p>
            <a:pPr indent="0" marL="0">
              <a:buNone/>
            </a:pPr>
            <a:r>
              <a:rPr lang="en-US" sz="3000" b="1" dirty="0">
                <a:solidFill>
                  <a:srgbClr val="13262B"/>
                </a:solidFill>
                <a:latin typeface="Cambria" pitchFamily="34" charset="0"/>
                <a:ea typeface="Cambria" pitchFamily="34" charset="-122"/>
                <a:cs typeface="Cambria" pitchFamily="34" charset="-120"/>
              </a:rPr>
              <a:t>A Escola Estadual Ibrahim Nobre</a:t>
            </a:r>
            <a:endParaRPr lang="en-US" sz="3000" dirty="0"/>
          </a:p>
        </p:txBody>
      </p:sp>
      <p:sp>
        <p:nvSpPr>
          <p:cNvPr id="4" name="Shape 2"/>
          <p:cNvSpPr/>
          <p:nvPr/>
        </p:nvSpPr>
        <p:spPr>
          <a:xfrm>
            <a:off x="548640" y="1645920"/>
            <a:ext cx="6035040" cy="4572000"/>
          </a:xfrm>
          <a:prstGeom prst="roundRect">
            <a:avLst>
              <a:gd name="adj" fmla="val 1600"/>
            </a:avLst>
          </a:prstGeom>
          <a:solidFill>
            <a:srgbClr val="F2F7F6"/>
          </a:solidFill>
          <a:ln/>
          <a:effectLst>
            <a:outerShdw sx="100000" sy="100000" kx="0" ky="0" algn="bl" rotWithShape="0" blurRad="101600" dist="38100" dir="2700000">
              <a:srgbClr val="000000">
                <a:alpha val="12000"/>
              </a:srgbClr>
            </a:outerShdw>
          </a:effectLst>
        </p:spPr>
      </p:sp>
      <p:sp>
        <p:nvSpPr>
          <p:cNvPr id="5" name="Shape 3"/>
          <p:cNvSpPr/>
          <p:nvPr/>
        </p:nvSpPr>
        <p:spPr>
          <a:xfrm>
            <a:off x="914400" y="2057400"/>
            <a:ext cx="128016" cy="128016"/>
          </a:xfrm>
          <a:prstGeom prst="ellipse">
            <a:avLst/>
          </a:prstGeom>
          <a:solidFill>
            <a:srgbClr val="5FA8A0"/>
          </a:solidFill>
          <a:ln/>
        </p:spPr>
      </p:sp>
      <p:sp>
        <p:nvSpPr>
          <p:cNvPr id="6" name="Text 4"/>
          <p:cNvSpPr/>
          <p:nvPr/>
        </p:nvSpPr>
        <p:spPr>
          <a:xfrm>
            <a:off x="1188720" y="1920240"/>
            <a:ext cx="5029200" cy="320040"/>
          </a:xfrm>
          <a:prstGeom prst="rect">
            <a:avLst/>
          </a:prstGeom>
          <a:noFill/>
          <a:ln/>
        </p:spPr>
        <p:txBody>
          <a:bodyPr wrap="square" lIns="0" tIns="0" rIns="0" bIns="0" rtlCol="0" anchor="ctr"/>
          <a:lstStyle/>
          <a:p>
            <a:pPr indent="0" marL="0">
              <a:buNone/>
            </a:pPr>
            <a:r>
              <a:rPr lang="en-US" sz="1500" b="1" dirty="0">
                <a:solidFill>
                  <a:srgbClr val="0F3D3E"/>
                </a:solidFill>
                <a:latin typeface="Calibri" pitchFamily="34" charset="0"/>
                <a:ea typeface="Calibri" pitchFamily="34" charset="-122"/>
                <a:cs typeface="Calibri" pitchFamily="34" charset="-120"/>
              </a:rPr>
              <a:t>Localização</a:t>
            </a:r>
            <a:endParaRPr lang="en-US" sz="1500" dirty="0"/>
          </a:p>
        </p:txBody>
      </p:sp>
      <p:sp>
        <p:nvSpPr>
          <p:cNvPr id="7" name="Text 5"/>
          <p:cNvSpPr/>
          <p:nvPr/>
        </p:nvSpPr>
        <p:spPr>
          <a:xfrm>
            <a:off x="1188720" y="2221992"/>
            <a:ext cx="5029200" cy="502920"/>
          </a:xfrm>
          <a:prstGeom prst="rect">
            <a:avLst/>
          </a:prstGeom>
          <a:noFill/>
          <a:ln/>
        </p:spPr>
        <p:txBody>
          <a:bodyPr wrap="square" lIns="0" tIns="0" rIns="0" bIns="0" rtlCol="0" anchor="ctr"/>
          <a:lstStyle/>
          <a:p>
            <a:pPr indent="0" marL="0">
              <a:buNone/>
            </a:pPr>
            <a:r>
              <a:rPr lang="en-US" sz="1300" dirty="0">
                <a:solidFill>
                  <a:srgbClr val="5B6E70"/>
                </a:solidFill>
                <a:latin typeface="Calibri" pitchFamily="34" charset="0"/>
                <a:ea typeface="Calibri" pitchFamily="34" charset="-122"/>
                <a:cs typeface="Calibri" pitchFamily="34" charset="-120"/>
              </a:rPr>
              <a:t>Bairro de Campo Grande, Zona Sul de São Paulo</a:t>
            </a:r>
            <a:endParaRPr lang="en-US" sz="1300" dirty="0"/>
          </a:p>
        </p:txBody>
      </p:sp>
      <p:sp>
        <p:nvSpPr>
          <p:cNvPr id="8" name="Shape 6"/>
          <p:cNvSpPr/>
          <p:nvPr/>
        </p:nvSpPr>
        <p:spPr>
          <a:xfrm>
            <a:off x="914400" y="3063240"/>
            <a:ext cx="128016" cy="128016"/>
          </a:xfrm>
          <a:prstGeom prst="ellipse">
            <a:avLst/>
          </a:prstGeom>
          <a:solidFill>
            <a:srgbClr val="5FA8A0"/>
          </a:solidFill>
          <a:ln/>
        </p:spPr>
      </p:sp>
      <p:sp>
        <p:nvSpPr>
          <p:cNvPr id="9" name="Text 7"/>
          <p:cNvSpPr/>
          <p:nvPr/>
        </p:nvSpPr>
        <p:spPr>
          <a:xfrm>
            <a:off x="1188720" y="2926080"/>
            <a:ext cx="5029200" cy="320040"/>
          </a:xfrm>
          <a:prstGeom prst="rect">
            <a:avLst/>
          </a:prstGeom>
          <a:noFill/>
          <a:ln/>
        </p:spPr>
        <p:txBody>
          <a:bodyPr wrap="square" lIns="0" tIns="0" rIns="0" bIns="0" rtlCol="0" anchor="ctr"/>
          <a:lstStyle/>
          <a:p>
            <a:pPr indent="0" marL="0">
              <a:buNone/>
            </a:pPr>
            <a:r>
              <a:rPr lang="en-US" sz="1500" b="1" dirty="0">
                <a:solidFill>
                  <a:srgbClr val="0F3D3E"/>
                </a:solidFill>
                <a:latin typeface="Calibri" pitchFamily="34" charset="0"/>
                <a:ea typeface="Calibri" pitchFamily="34" charset="-122"/>
                <a:cs typeface="Calibri" pitchFamily="34" charset="-120"/>
              </a:rPr>
              <a:t>Perfil</a:t>
            </a:r>
            <a:endParaRPr lang="en-US" sz="1500" dirty="0"/>
          </a:p>
        </p:txBody>
      </p:sp>
      <p:sp>
        <p:nvSpPr>
          <p:cNvPr id="10" name="Text 8"/>
          <p:cNvSpPr/>
          <p:nvPr/>
        </p:nvSpPr>
        <p:spPr>
          <a:xfrm>
            <a:off x="1188720" y="3227832"/>
            <a:ext cx="5029200" cy="502920"/>
          </a:xfrm>
          <a:prstGeom prst="rect">
            <a:avLst/>
          </a:prstGeom>
          <a:noFill/>
          <a:ln/>
        </p:spPr>
        <p:txBody>
          <a:bodyPr wrap="square" lIns="0" tIns="0" rIns="0" bIns="0" rtlCol="0" anchor="ctr"/>
          <a:lstStyle/>
          <a:p>
            <a:pPr indent="0" marL="0">
              <a:buNone/>
            </a:pPr>
            <a:r>
              <a:rPr lang="en-US" sz="1300" dirty="0">
                <a:solidFill>
                  <a:srgbClr val="5B6E70"/>
                </a:solidFill>
                <a:latin typeface="Calibri" pitchFamily="34" charset="0"/>
                <a:ea typeface="Calibri" pitchFamily="34" charset="-122"/>
                <a:cs typeface="Calibri" pitchFamily="34" charset="-120"/>
              </a:rPr>
              <a:t>Atende exclusivamente alunos do Ensino Médio</a:t>
            </a:r>
            <a:endParaRPr lang="en-US" sz="1300" dirty="0"/>
          </a:p>
        </p:txBody>
      </p:sp>
      <p:sp>
        <p:nvSpPr>
          <p:cNvPr id="11" name="Shape 9"/>
          <p:cNvSpPr/>
          <p:nvPr/>
        </p:nvSpPr>
        <p:spPr>
          <a:xfrm>
            <a:off x="914400" y="4069080"/>
            <a:ext cx="128016" cy="128016"/>
          </a:xfrm>
          <a:prstGeom prst="ellipse">
            <a:avLst/>
          </a:prstGeom>
          <a:solidFill>
            <a:srgbClr val="5FA8A0"/>
          </a:solidFill>
          <a:ln/>
        </p:spPr>
      </p:sp>
      <p:sp>
        <p:nvSpPr>
          <p:cNvPr id="12" name="Text 10"/>
          <p:cNvSpPr/>
          <p:nvPr/>
        </p:nvSpPr>
        <p:spPr>
          <a:xfrm>
            <a:off x="1188720" y="3931920"/>
            <a:ext cx="5029200" cy="320040"/>
          </a:xfrm>
          <a:prstGeom prst="rect">
            <a:avLst/>
          </a:prstGeom>
          <a:noFill/>
          <a:ln/>
        </p:spPr>
        <p:txBody>
          <a:bodyPr wrap="square" lIns="0" tIns="0" rIns="0" bIns="0" rtlCol="0" anchor="ctr"/>
          <a:lstStyle/>
          <a:p>
            <a:pPr indent="0" marL="0">
              <a:buNone/>
            </a:pPr>
            <a:r>
              <a:rPr lang="en-US" sz="1500" b="1" dirty="0">
                <a:solidFill>
                  <a:srgbClr val="0F3D3E"/>
                </a:solidFill>
                <a:latin typeface="Calibri" pitchFamily="34" charset="0"/>
                <a:ea typeface="Calibri" pitchFamily="34" charset="-122"/>
                <a:cs typeface="Calibri" pitchFamily="34" charset="-120"/>
              </a:rPr>
              <a:t>Programa</a:t>
            </a:r>
            <a:endParaRPr lang="en-US" sz="1500" dirty="0"/>
          </a:p>
        </p:txBody>
      </p:sp>
      <p:sp>
        <p:nvSpPr>
          <p:cNvPr id="13" name="Text 11"/>
          <p:cNvSpPr/>
          <p:nvPr/>
        </p:nvSpPr>
        <p:spPr>
          <a:xfrm>
            <a:off x="1188720" y="4233672"/>
            <a:ext cx="5029200" cy="502920"/>
          </a:xfrm>
          <a:prstGeom prst="rect">
            <a:avLst/>
          </a:prstGeom>
          <a:noFill/>
          <a:ln/>
        </p:spPr>
        <p:txBody>
          <a:bodyPr wrap="square" lIns="0" tIns="0" rIns="0" bIns="0" rtlCol="0" anchor="ctr"/>
          <a:lstStyle/>
          <a:p>
            <a:pPr indent="0" marL="0">
              <a:buNone/>
            </a:pPr>
            <a:r>
              <a:rPr lang="en-US" sz="1300" dirty="0">
                <a:solidFill>
                  <a:srgbClr val="5B6E70"/>
                </a:solidFill>
                <a:latin typeface="Calibri" pitchFamily="34" charset="0"/>
                <a:ea typeface="Calibri" pitchFamily="34" charset="-122"/>
                <a:cs typeface="Calibri" pitchFamily="34" charset="-120"/>
              </a:rPr>
              <a:t>Integra o Programa Ensino Integral (PEI), com jornada ampliada</a:t>
            </a:r>
            <a:endParaRPr lang="en-US" sz="1300" dirty="0"/>
          </a:p>
        </p:txBody>
      </p:sp>
      <p:sp>
        <p:nvSpPr>
          <p:cNvPr id="14" name="Shape 12"/>
          <p:cNvSpPr/>
          <p:nvPr/>
        </p:nvSpPr>
        <p:spPr>
          <a:xfrm>
            <a:off x="914400" y="5074920"/>
            <a:ext cx="128016" cy="128016"/>
          </a:xfrm>
          <a:prstGeom prst="ellipse">
            <a:avLst/>
          </a:prstGeom>
          <a:solidFill>
            <a:srgbClr val="5FA8A0"/>
          </a:solidFill>
          <a:ln/>
        </p:spPr>
      </p:sp>
      <p:sp>
        <p:nvSpPr>
          <p:cNvPr id="15" name="Text 13"/>
          <p:cNvSpPr/>
          <p:nvPr/>
        </p:nvSpPr>
        <p:spPr>
          <a:xfrm>
            <a:off x="1188720" y="4937760"/>
            <a:ext cx="5029200" cy="320040"/>
          </a:xfrm>
          <a:prstGeom prst="rect">
            <a:avLst/>
          </a:prstGeom>
          <a:noFill/>
          <a:ln/>
        </p:spPr>
        <p:txBody>
          <a:bodyPr wrap="square" lIns="0" tIns="0" rIns="0" bIns="0" rtlCol="0" anchor="ctr"/>
          <a:lstStyle/>
          <a:p>
            <a:pPr indent="0" marL="0">
              <a:buNone/>
            </a:pPr>
            <a:r>
              <a:rPr lang="en-US" sz="1500" b="1" dirty="0">
                <a:solidFill>
                  <a:srgbClr val="0F3D3E"/>
                </a:solidFill>
                <a:latin typeface="Calibri" pitchFamily="34" charset="0"/>
                <a:ea typeface="Calibri" pitchFamily="34" charset="-122"/>
                <a:cs typeface="Calibri" pitchFamily="34" charset="-120"/>
              </a:rPr>
              <a:t>Desafios estruturais</a:t>
            </a:r>
            <a:endParaRPr lang="en-US" sz="1500" dirty="0"/>
          </a:p>
        </p:txBody>
      </p:sp>
      <p:sp>
        <p:nvSpPr>
          <p:cNvPr id="16" name="Text 14"/>
          <p:cNvSpPr/>
          <p:nvPr/>
        </p:nvSpPr>
        <p:spPr>
          <a:xfrm>
            <a:off x="1188720" y="5239512"/>
            <a:ext cx="5029200" cy="502920"/>
          </a:xfrm>
          <a:prstGeom prst="rect">
            <a:avLst/>
          </a:prstGeom>
          <a:noFill/>
          <a:ln/>
        </p:spPr>
        <p:txBody>
          <a:bodyPr wrap="square" lIns="0" tIns="0" rIns="0" bIns="0" rtlCol="0" anchor="ctr"/>
          <a:lstStyle/>
          <a:p>
            <a:pPr indent="0" marL="0">
              <a:buNone/>
            </a:pPr>
            <a:r>
              <a:rPr lang="en-US" sz="1300" dirty="0">
                <a:solidFill>
                  <a:srgbClr val="5B6E70"/>
                </a:solidFill>
                <a:latin typeface="Calibri" pitchFamily="34" charset="0"/>
                <a:ea typeface="Calibri" pitchFamily="34" charset="-122"/>
                <a:cs typeface="Calibri" pitchFamily="34" charset="-120"/>
              </a:rPr>
              <a:t>Atrasos salariais, quadro reduzido, docentes fora de sua área de formação</a:t>
            </a:r>
            <a:endParaRPr lang="en-US" sz="1300" dirty="0"/>
          </a:p>
        </p:txBody>
      </p:sp>
      <p:sp>
        <p:nvSpPr>
          <p:cNvPr id="17" name="Shape 15"/>
          <p:cNvSpPr/>
          <p:nvPr/>
        </p:nvSpPr>
        <p:spPr>
          <a:xfrm>
            <a:off x="6858000" y="1645920"/>
            <a:ext cx="4754880" cy="4572000"/>
          </a:xfrm>
          <a:prstGeom prst="roundRect">
            <a:avLst>
              <a:gd name="adj" fmla="val 1600"/>
            </a:avLst>
          </a:prstGeom>
          <a:solidFill>
            <a:srgbClr val="0F3D3E"/>
          </a:solidFill>
          <a:ln/>
          <a:effectLst>
            <a:outerShdw sx="100000" sy="100000" kx="0" ky="0" algn="bl" rotWithShape="0" blurRad="101600" dist="38100" dir="2700000">
              <a:srgbClr val="000000">
                <a:alpha val="12000"/>
              </a:srgbClr>
            </a:outerShdw>
          </a:effectLst>
        </p:spPr>
      </p:sp>
      <p:pic>
        <p:nvPicPr>
          <p:cNvPr id="18" name="Image 0" descr="preencoded.png">    </p:cNvPr>
          <p:cNvPicPr>
            <a:picLocks noChangeAspect="1"/>
          </p:cNvPicPr>
          <p:nvPr/>
        </p:nvPicPr>
        <p:blipFill>
          <a:blip r:embed="rId1"/>
          <a:stretch>
            <a:fillRect/>
          </a:stretch>
        </p:blipFill>
        <p:spPr>
          <a:xfrm>
            <a:off x="7223760" y="2011680"/>
            <a:ext cx="548640" cy="548640"/>
          </a:xfrm>
          <a:prstGeom prst="rect">
            <a:avLst/>
          </a:prstGeom>
        </p:spPr>
      </p:pic>
      <p:sp>
        <p:nvSpPr>
          <p:cNvPr id="19" name="Text 16"/>
          <p:cNvSpPr/>
          <p:nvPr/>
        </p:nvSpPr>
        <p:spPr>
          <a:xfrm>
            <a:off x="7223760" y="2697480"/>
            <a:ext cx="4023360" cy="6400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Reunião inicial com professores</a:t>
            </a:r>
            <a:endParaRPr lang="en-US" sz="1800" dirty="0"/>
          </a:p>
        </p:txBody>
      </p:sp>
      <p:sp>
        <p:nvSpPr>
          <p:cNvPr id="20" name="Text 17"/>
          <p:cNvSpPr/>
          <p:nvPr/>
        </p:nvSpPr>
        <p:spPr>
          <a:xfrm>
            <a:off x="7223760" y="3429000"/>
            <a:ext cx="4023360" cy="2377440"/>
          </a:xfrm>
          <a:prstGeom prst="rect">
            <a:avLst/>
          </a:prstGeom>
          <a:noFill/>
          <a:ln/>
        </p:spPr>
        <p:txBody>
          <a:bodyPr wrap="square" lIns="0" tIns="0" rIns="0" bIns="0" rtlCol="0" anchor="ctr"/>
          <a:lstStyle/>
          <a:p>
            <a:pPr indent="0" marL="0">
              <a:lnSpc>
                <a:spcPct val="125000"/>
              </a:lnSpc>
              <a:buNone/>
            </a:pPr>
            <a:r>
              <a:rPr lang="en-US" sz="1400" dirty="0">
                <a:solidFill>
                  <a:srgbClr val="D8E8E6"/>
                </a:solidFill>
                <a:latin typeface="Calibri" pitchFamily="34" charset="0"/>
                <a:ea typeface="Calibri" pitchFamily="34" charset="-122"/>
                <a:cs typeface="Calibri" pitchFamily="34" charset="-120"/>
              </a:rPr>
              <a:t>Antes do início das monitorias, participei de uma reunião com a equipe de professores, que apontou as dificuldades em exatas — sobretudo em matemática — como um gargalo que compromete o desempenho dos alunos em outras disciplinas.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3657600" cy="365760"/>
          </a:xfrm>
          <a:prstGeom prst="rect">
            <a:avLst/>
          </a:prstGeom>
          <a:noFill/>
          <a:ln/>
        </p:spPr>
        <p:txBody>
          <a:bodyPr wrap="square" lIns="0" tIns="0" rIns="0" bIns="0" rtlCol="0" anchor="ctr"/>
          <a:lstStyle/>
          <a:p>
            <a:pPr indent="0" marL="0">
              <a:buNone/>
            </a:pPr>
            <a:r>
              <a:rPr lang="en-US" sz="1300" b="1" spc="200" kern="0" dirty="0">
                <a:solidFill>
                  <a:srgbClr val="5FA8A0"/>
                </a:solidFill>
                <a:latin typeface="Calibri" pitchFamily="34" charset="0"/>
                <a:ea typeface="Calibri" pitchFamily="34" charset="-122"/>
                <a:cs typeface="Calibri" pitchFamily="34" charset="-120"/>
              </a:rPr>
              <a:t>OBJETIVO</a:t>
            </a:r>
            <a:endParaRPr lang="en-US" sz="1300" dirty="0"/>
          </a:p>
        </p:txBody>
      </p:sp>
      <p:sp>
        <p:nvSpPr>
          <p:cNvPr id="3" name="Text 1"/>
          <p:cNvSpPr/>
          <p:nvPr/>
        </p:nvSpPr>
        <p:spPr>
          <a:xfrm>
            <a:off x="548640" y="777240"/>
            <a:ext cx="9144000" cy="548640"/>
          </a:xfrm>
          <a:prstGeom prst="rect">
            <a:avLst/>
          </a:prstGeom>
          <a:noFill/>
          <a:ln/>
        </p:spPr>
        <p:txBody>
          <a:bodyPr wrap="square" lIns="0" tIns="0" rIns="0" bIns="0" rtlCol="0" anchor="ctr"/>
          <a:lstStyle/>
          <a:p>
            <a:pPr indent="0" marL="0">
              <a:buNone/>
            </a:pPr>
            <a:r>
              <a:rPr lang="en-US" sz="3000" b="1" dirty="0">
                <a:solidFill>
                  <a:srgbClr val="13262B"/>
                </a:solidFill>
                <a:latin typeface="Cambria" pitchFamily="34" charset="0"/>
                <a:ea typeface="Cambria" pitchFamily="34" charset="-122"/>
                <a:cs typeface="Cambria" pitchFamily="34" charset="-120"/>
              </a:rPr>
              <a:t>Dois públicos, dois objetivos</a:t>
            </a:r>
            <a:endParaRPr lang="en-US" sz="3000" dirty="0"/>
          </a:p>
        </p:txBody>
      </p:sp>
      <p:sp>
        <p:nvSpPr>
          <p:cNvPr id="4" name="Text 2"/>
          <p:cNvSpPr/>
          <p:nvPr/>
        </p:nvSpPr>
        <p:spPr>
          <a:xfrm>
            <a:off x="548640" y="1417320"/>
            <a:ext cx="10515600" cy="548640"/>
          </a:xfrm>
          <a:prstGeom prst="rect">
            <a:avLst/>
          </a:prstGeom>
          <a:noFill/>
          <a:ln/>
        </p:spPr>
        <p:txBody>
          <a:bodyPr wrap="square" lIns="0" tIns="0" rIns="0" bIns="0" rtlCol="0" anchor="ctr"/>
          <a:lstStyle/>
          <a:p>
            <a:pPr indent="0" marL="0">
              <a:buNone/>
            </a:pPr>
            <a:r>
              <a:rPr lang="en-US" sz="1500" dirty="0">
                <a:solidFill>
                  <a:srgbClr val="5B6E70"/>
                </a:solidFill>
                <a:latin typeface="Calibri" pitchFamily="34" charset="0"/>
                <a:ea typeface="Calibri" pitchFamily="34" charset="-122"/>
                <a:cs typeface="Calibri" pitchFamily="34" charset="-120"/>
              </a:rPr>
              <a:t>Contribuir com o aprendizado de matemática de alunos da rede pública estadual que apresentam dificuldades significativas na disciplina.</a:t>
            </a:r>
            <a:endParaRPr lang="en-US" sz="1500" dirty="0"/>
          </a:p>
        </p:txBody>
      </p:sp>
      <p:sp>
        <p:nvSpPr>
          <p:cNvPr id="5" name="Shape 3"/>
          <p:cNvSpPr/>
          <p:nvPr/>
        </p:nvSpPr>
        <p:spPr>
          <a:xfrm>
            <a:off x="548640" y="2148840"/>
            <a:ext cx="5120640" cy="4114800"/>
          </a:xfrm>
          <a:prstGeom prst="roundRect">
            <a:avLst>
              <a:gd name="adj" fmla="val 1778"/>
            </a:avLst>
          </a:prstGeom>
          <a:solidFill>
            <a:srgbClr val="0F3D3E"/>
          </a:solidFill>
          <a:ln/>
          <a:effectLst>
            <a:outerShdw sx="100000" sy="100000" kx="0" ky="0" algn="bl" rotWithShape="0" blurRad="101600" dist="38100" dir="2700000">
              <a:srgbClr val="000000">
                <a:alpha val="12000"/>
              </a:srgbClr>
            </a:outerShdw>
          </a:effectLst>
        </p:spPr>
      </p:sp>
      <p:sp>
        <p:nvSpPr>
          <p:cNvPr id="6" name="Shape 4"/>
          <p:cNvSpPr/>
          <p:nvPr/>
        </p:nvSpPr>
        <p:spPr>
          <a:xfrm>
            <a:off x="960120" y="2560320"/>
            <a:ext cx="822960" cy="822960"/>
          </a:xfrm>
          <a:prstGeom prst="ellipse">
            <a:avLst/>
          </a:prstGeom>
          <a:solidFill>
            <a:srgbClr val="FFFFFF">
              <a:alpha val="15000"/>
            </a:srgbClr>
          </a:solidFill>
          <a:ln/>
        </p:spPr>
      </p:sp>
      <p:pic>
        <p:nvPicPr>
          <p:cNvPr id="7" name="Image 0" descr="preencoded.png">    </p:cNvPr>
          <p:cNvPicPr>
            <a:picLocks noChangeAspect="1"/>
          </p:cNvPicPr>
          <p:nvPr/>
        </p:nvPicPr>
        <p:blipFill>
          <a:blip r:embed="rId1"/>
          <a:stretch>
            <a:fillRect/>
          </a:stretch>
        </p:blipFill>
        <p:spPr>
          <a:xfrm>
            <a:off x="1143000" y="2743200"/>
            <a:ext cx="457200" cy="457200"/>
          </a:xfrm>
          <a:prstGeom prst="rect">
            <a:avLst/>
          </a:prstGeom>
        </p:spPr>
      </p:pic>
      <p:sp>
        <p:nvSpPr>
          <p:cNvPr id="8" name="Text 5"/>
          <p:cNvSpPr/>
          <p:nvPr/>
        </p:nvSpPr>
        <p:spPr>
          <a:xfrm>
            <a:off x="960120" y="3566160"/>
            <a:ext cx="4297680" cy="54864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3º Ano — Terças-feiras</a:t>
            </a:r>
            <a:endParaRPr lang="en-US" sz="1900" dirty="0"/>
          </a:p>
        </p:txBody>
      </p:sp>
      <p:sp>
        <p:nvSpPr>
          <p:cNvPr id="9" name="Text 6"/>
          <p:cNvSpPr/>
          <p:nvPr/>
        </p:nvSpPr>
        <p:spPr>
          <a:xfrm>
            <a:off x="960120" y="4206240"/>
            <a:ext cx="4297680" cy="1828800"/>
          </a:xfrm>
          <a:prstGeom prst="rect">
            <a:avLst/>
          </a:prstGeom>
          <a:noFill/>
          <a:ln/>
        </p:spPr>
        <p:txBody>
          <a:bodyPr wrap="square" lIns="0" tIns="0" rIns="0" bIns="0" rtlCol="0" anchor="ctr"/>
          <a:lstStyle/>
          <a:p>
            <a:pPr indent="0" marL="0">
              <a:lnSpc>
                <a:spcPct val="130000"/>
              </a:lnSpc>
              <a:buNone/>
            </a:pPr>
            <a:r>
              <a:rPr lang="en-US" sz="1400" dirty="0">
                <a:solidFill>
                  <a:srgbClr val="E4EFEE"/>
                </a:solidFill>
                <a:latin typeface="Calibri" pitchFamily="34" charset="0"/>
                <a:ea typeface="Calibri" pitchFamily="34" charset="-122"/>
                <a:cs typeface="Calibri" pitchFamily="34" charset="-120"/>
              </a:rPr>
              <a:t>Nivelar o conhecimento matemático dos alunos com mais dificuldade, melhorando o desempenho no vestibular e consolidando competências aplicáveis à vida.</a:t>
            </a:r>
            <a:endParaRPr lang="en-US" sz="1400" dirty="0"/>
          </a:p>
        </p:txBody>
      </p:sp>
      <p:sp>
        <p:nvSpPr>
          <p:cNvPr id="10" name="Shape 7"/>
          <p:cNvSpPr/>
          <p:nvPr/>
        </p:nvSpPr>
        <p:spPr>
          <a:xfrm>
            <a:off x="6126480" y="2148840"/>
            <a:ext cx="5120640" cy="4114800"/>
          </a:xfrm>
          <a:prstGeom prst="roundRect">
            <a:avLst>
              <a:gd name="adj" fmla="val 1778"/>
            </a:avLst>
          </a:prstGeom>
          <a:solidFill>
            <a:srgbClr val="1C6E6F"/>
          </a:solidFill>
          <a:ln/>
          <a:effectLst>
            <a:outerShdw sx="100000" sy="100000" kx="0" ky="0" algn="bl" rotWithShape="0" blurRad="101600" dist="38100" dir="2700000">
              <a:srgbClr val="000000">
                <a:alpha val="12000"/>
              </a:srgbClr>
            </a:outerShdw>
          </a:effectLst>
        </p:spPr>
      </p:sp>
      <p:sp>
        <p:nvSpPr>
          <p:cNvPr id="11" name="Shape 8"/>
          <p:cNvSpPr/>
          <p:nvPr/>
        </p:nvSpPr>
        <p:spPr>
          <a:xfrm>
            <a:off x="6537960" y="2560320"/>
            <a:ext cx="822960" cy="822960"/>
          </a:xfrm>
          <a:prstGeom prst="ellipse">
            <a:avLst/>
          </a:prstGeom>
          <a:solidFill>
            <a:srgbClr val="FFFFFF">
              <a:alpha val="15000"/>
            </a:srgbClr>
          </a:solidFill>
          <a:ln/>
        </p:spPr>
      </p:sp>
      <p:pic>
        <p:nvPicPr>
          <p:cNvPr id="12" name="Image 1" descr="preencoded.png">    </p:cNvPr>
          <p:cNvPicPr>
            <a:picLocks noChangeAspect="1"/>
          </p:cNvPicPr>
          <p:nvPr/>
        </p:nvPicPr>
        <p:blipFill>
          <a:blip r:embed="rId2"/>
          <a:stretch>
            <a:fillRect/>
          </a:stretch>
        </p:blipFill>
        <p:spPr>
          <a:xfrm>
            <a:off x="6720840" y="2743200"/>
            <a:ext cx="457200" cy="457200"/>
          </a:xfrm>
          <a:prstGeom prst="rect">
            <a:avLst/>
          </a:prstGeom>
        </p:spPr>
      </p:pic>
      <p:sp>
        <p:nvSpPr>
          <p:cNvPr id="13" name="Text 9"/>
          <p:cNvSpPr/>
          <p:nvPr/>
        </p:nvSpPr>
        <p:spPr>
          <a:xfrm>
            <a:off x="6537960" y="3566160"/>
            <a:ext cx="4297680" cy="54864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1º Ano — Quartas-feiras</a:t>
            </a:r>
            <a:endParaRPr lang="en-US" sz="1900" dirty="0"/>
          </a:p>
        </p:txBody>
      </p:sp>
      <p:sp>
        <p:nvSpPr>
          <p:cNvPr id="14" name="Text 10"/>
          <p:cNvSpPr/>
          <p:nvPr/>
        </p:nvSpPr>
        <p:spPr>
          <a:xfrm>
            <a:off x="6537960" y="4206240"/>
            <a:ext cx="4297680" cy="1828800"/>
          </a:xfrm>
          <a:prstGeom prst="rect">
            <a:avLst/>
          </a:prstGeom>
          <a:noFill/>
          <a:ln/>
        </p:spPr>
        <p:txBody>
          <a:bodyPr wrap="square" lIns="0" tIns="0" rIns="0" bIns="0" rtlCol="0" anchor="ctr"/>
          <a:lstStyle/>
          <a:p>
            <a:pPr indent="0" marL="0">
              <a:lnSpc>
                <a:spcPct val="130000"/>
              </a:lnSpc>
              <a:buNone/>
            </a:pPr>
            <a:r>
              <a:rPr lang="en-US" sz="1400" dirty="0">
                <a:solidFill>
                  <a:srgbClr val="E4EFEE"/>
                </a:solidFill>
                <a:latin typeface="Calibri" pitchFamily="34" charset="0"/>
                <a:ea typeface="Calibri" pitchFamily="34" charset="-122"/>
                <a:cs typeface="Calibri" pitchFamily="34" charset="-120"/>
              </a:rPr>
              <a:t>Garantir que os alunos iniciem o Ensino Médio com a base necessária para acompanhar os conteúdos da disciplina, sem acúmulo de lacunas conceituais.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3657600" cy="365760"/>
          </a:xfrm>
          <a:prstGeom prst="rect">
            <a:avLst/>
          </a:prstGeom>
          <a:noFill/>
          <a:ln/>
        </p:spPr>
        <p:txBody>
          <a:bodyPr wrap="square" lIns="0" tIns="0" rIns="0" bIns="0" rtlCol="0" anchor="ctr"/>
          <a:lstStyle/>
          <a:p>
            <a:pPr indent="0" marL="0">
              <a:buNone/>
            </a:pPr>
            <a:r>
              <a:rPr lang="en-US" sz="1300" b="1" spc="200" kern="0" dirty="0">
                <a:solidFill>
                  <a:srgbClr val="5FA8A0"/>
                </a:solidFill>
                <a:latin typeface="Calibri" pitchFamily="34" charset="0"/>
                <a:ea typeface="Calibri" pitchFamily="34" charset="-122"/>
                <a:cs typeface="Calibri" pitchFamily="34" charset="-120"/>
              </a:rPr>
              <a:t>O QUE FOI FEITO</a:t>
            </a:r>
            <a:endParaRPr lang="en-US" sz="1300" dirty="0"/>
          </a:p>
        </p:txBody>
      </p:sp>
      <p:sp>
        <p:nvSpPr>
          <p:cNvPr id="3" name="Text 1"/>
          <p:cNvSpPr/>
          <p:nvPr/>
        </p:nvSpPr>
        <p:spPr>
          <a:xfrm>
            <a:off x="548640" y="777240"/>
            <a:ext cx="9144000" cy="548640"/>
          </a:xfrm>
          <a:prstGeom prst="rect">
            <a:avLst/>
          </a:prstGeom>
          <a:noFill/>
          <a:ln/>
        </p:spPr>
        <p:txBody>
          <a:bodyPr wrap="square" lIns="0" tIns="0" rIns="0" bIns="0" rtlCol="0" anchor="ctr"/>
          <a:lstStyle/>
          <a:p>
            <a:pPr indent="0" marL="0">
              <a:buNone/>
            </a:pPr>
            <a:r>
              <a:rPr lang="en-US" sz="3000" b="1" dirty="0">
                <a:solidFill>
                  <a:srgbClr val="13262B"/>
                </a:solidFill>
                <a:latin typeface="Cambria" pitchFamily="34" charset="0"/>
                <a:ea typeface="Cambria" pitchFamily="34" charset="-122"/>
                <a:cs typeface="Cambria" pitchFamily="34" charset="-120"/>
              </a:rPr>
              <a:t>Estrutura de cada visita</a:t>
            </a:r>
            <a:endParaRPr lang="en-US" sz="3000" dirty="0"/>
          </a:p>
        </p:txBody>
      </p:sp>
      <p:sp>
        <p:nvSpPr>
          <p:cNvPr id="4" name="Shape 2"/>
          <p:cNvSpPr/>
          <p:nvPr/>
        </p:nvSpPr>
        <p:spPr>
          <a:xfrm>
            <a:off x="731520" y="1828800"/>
            <a:ext cx="3108960" cy="2377440"/>
          </a:xfrm>
          <a:prstGeom prst="roundRect">
            <a:avLst>
              <a:gd name="adj" fmla="val 3077"/>
            </a:avLst>
          </a:prstGeom>
          <a:solidFill>
            <a:srgbClr val="F2F7F6"/>
          </a:solidFill>
          <a:ln/>
          <a:effectLst>
            <a:outerShdw sx="100000" sy="100000" kx="0" ky="0" algn="bl" rotWithShape="0" blurRad="101600" dist="38100" dir="2700000">
              <a:srgbClr val="000000">
                <a:alpha val="12000"/>
              </a:srgbClr>
            </a:outerShdw>
          </a:effectLst>
        </p:spPr>
      </p:sp>
      <p:sp>
        <p:nvSpPr>
          <p:cNvPr id="5" name="Shape 3"/>
          <p:cNvSpPr/>
          <p:nvPr/>
        </p:nvSpPr>
        <p:spPr>
          <a:xfrm>
            <a:off x="1965960" y="1508760"/>
            <a:ext cx="640080" cy="640080"/>
          </a:xfrm>
          <a:prstGeom prst="ellipse">
            <a:avLst/>
          </a:prstGeom>
          <a:solidFill>
            <a:srgbClr val="0F3D3E"/>
          </a:solidFill>
          <a:ln/>
        </p:spPr>
      </p:sp>
      <p:sp>
        <p:nvSpPr>
          <p:cNvPr id="6" name="Text 4"/>
          <p:cNvSpPr/>
          <p:nvPr/>
        </p:nvSpPr>
        <p:spPr>
          <a:xfrm>
            <a:off x="1965960" y="15087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1005840" y="2286000"/>
            <a:ext cx="2560320" cy="457200"/>
          </a:xfrm>
          <a:prstGeom prst="rect">
            <a:avLst/>
          </a:prstGeom>
          <a:noFill/>
          <a:ln/>
        </p:spPr>
        <p:txBody>
          <a:bodyPr wrap="square" lIns="0" tIns="0" rIns="0" bIns="0" rtlCol="0" anchor="ctr"/>
          <a:lstStyle/>
          <a:p>
            <a:pPr algn="ctr" indent="0" marL="0">
              <a:buNone/>
            </a:pPr>
            <a:r>
              <a:rPr lang="en-US" sz="1600" b="1" dirty="0">
                <a:solidFill>
                  <a:srgbClr val="0F3D3E"/>
                </a:solidFill>
                <a:latin typeface="Calibri" pitchFamily="34" charset="0"/>
                <a:ea typeface="Calibri" pitchFamily="34" charset="-122"/>
                <a:cs typeface="Calibri" pitchFamily="34" charset="-120"/>
              </a:rPr>
              <a:t>Reunião prévia</a:t>
            </a:r>
            <a:endParaRPr lang="en-US" sz="1600" dirty="0"/>
          </a:p>
        </p:txBody>
      </p:sp>
      <p:sp>
        <p:nvSpPr>
          <p:cNvPr id="8" name="Text 6"/>
          <p:cNvSpPr/>
          <p:nvPr/>
        </p:nvSpPr>
        <p:spPr>
          <a:xfrm>
            <a:off x="1005840" y="2788920"/>
            <a:ext cx="2560320" cy="822960"/>
          </a:xfrm>
          <a:prstGeom prst="rect">
            <a:avLst/>
          </a:prstGeom>
          <a:noFill/>
          <a:ln/>
        </p:spPr>
        <p:txBody>
          <a:bodyPr wrap="square" lIns="0" tIns="0" rIns="0" bIns="0" rtlCol="0" anchor="ctr"/>
          <a:lstStyle/>
          <a:p>
            <a:pPr algn="ctr" indent="0" marL="0">
              <a:lnSpc>
                <a:spcPct val="120000"/>
              </a:lnSpc>
              <a:buNone/>
            </a:pPr>
            <a:r>
              <a:rPr lang="en-US" sz="1250" dirty="0">
                <a:solidFill>
                  <a:srgbClr val="5B6E70"/>
                </a:solidFill>
                <a:latin typeface="Calibri" pitchFamily="34" charset="0"/>
                <a:ea typeface="Calibri" pitchFamily="34" charset="-122"/>
                <a:cs typeface="Calibri" pitchFamily="34" charset="-120"/>
              </a:rPr>
              <a:t>Alinhamento de conteúdo</a:t>
            </a:r>
            <a:endParaRPr lang="en-US" sz="1250" dirty="0"/>
          </a:p>
          <a:p>
            <a:pPr algn="ctr" indent="0" marL="0">
              <a:lnSpc>
                <a:spcPct val="120000"/>
              </a:lnSpc>
              <a:buNone/>
            </a:pPr>
            <a:r>
              <a:rPr lang="en-US" sz="1250" dirty="0">
                <a:solidFill>
                  <a:srgbClr val="5B6E70"/>
                </a:solidFill>
                <a:latin typeface="Calibri" pitchFamily="34" charset="0"/>
                <a:ea typeface="Calibri" pitchFamily="34" charset="-122"/>
                <a:cs typeface="Calibri" pitchFamily="34" charset="-120"/>
              </a:rPr>
              <a:t>com o professor</a:t>
            </a:r>
            <a:endParaRPr lang="en-US" sz="1250" dirty="0"/>
          </a:p>
        </p:txBody>
      </p:sp>
      <p:sp>
        <p:nvSpPr>
          <p:cNvPr id="9" name="Text 7"/>
          <p:cNvSpPr/>
          <p:nvPr/>
        </p:nvSpPr>
        <p:spPr>
          <a:xfrm>
            <a:off x="1005840" y="3611880"/>
            <a:ext cx="2560320" cy="457200"/>
          </a:xfrm>
          <a:prstGeom prst="rect">
            <a:avLst/>
          </a:prstGeom>
          <a:noFill/>
          <a:ln/>
        </p:spPr>
        <p:txBody>
          <a:bodyPr wrap="square" lIns="0" tIns="0" rIns="0" bIns="0" rtlCol="0" anchor="ctr"/>
          <a:lstStyle/>
          <a:p>
            <a:pPr algn="ctr" indent="0" marL="0">
              <a:buNone/>
            </a:pPr>
            <a:r>
              <a:rPr lang="en-US" sz="2000" b="1" dirty="0">
                <a:solidFill>
                  <a:srgbClr val="E8A33D"/>
                </a:solidFill>
                <a:latin typeface="Cambria" pitchFamily="34" charset="0"/>
                <a:ea typeface="Cambria" pitchFamily="34" charset="-122"/>
                <a:cs typeface="Cambria" pitchFamily="34" charset="-120"/>
              </a:rPr>
              <a:t>30 min</a:t>
            </a:r>
            <a:endParaRPr lang="en-US" sz="2000" dirty="0"/>
          </a:p>
        </p:txBody>
      </p:sp>
      <p:sp>
        <p:nvSpPr>
          <p:cNvPr id="10" name="Shape 8"/>
          <p:cNvSpPr/>
          <p:nvPr/>
        </p:nvSpPr>
        <p:spPr>
          <a:xfrm>
            <a:off x="3890772" y="2816352"/>
            <a:ext cx="402336" cy="402336"/>
          </a:xfrm>
          <a:prstGeom prst="ellipse">
            <a:avLst/>
          </a:prstGeom>
          <a:solidFill>
            <a:srgbClr val="5FA8A0"/>
          </a:solidFill>
          <a:ln/>
        </p:spPr>
      </p:sp>
      <p:pic>
        <p:nvPicPr>
          <p:cNvPr id="11" name="Image 0" descr="preencoded.png">    </p:cNvPr>
          <p:cNvPicPr>
            <a:picLocks noChangeAspect="1"/>
          </p:cNvPicPr>
          <p:nvPr/>
        </p:nvPicPr>
        <p:blipFill>
          <a:blip r:embed="rId1"/>
          <a:stretch>
            <a:fillRect/>
          </a:stretch>
        </p:blipFill>
        <p:spPr>
          <a:xfrm>
            <a:off x="3982212" y="2907792"/>
            <a:ext cx="219456" cy="219456"/>
          </a:xfrm>
          <a:prstGeom prst="rect">
            <a:avLst/>
          </a:prstGeom>
        </p:spPr>
      </p:pic>
      <p:sp>
        <p:nvSpPr>
          <p:cNvPr id="12" name="Shape 9"/>
          <p:cNvSpPr/>
          <p:nvPr/>
        </p:nvSpPr>
        <p:spPr>
          <a:xfrm>
            <a:off x="4343400" y="1828800"/>
            <a:ext cx="3108960" cy="2377440"/>
          </a:xfrm>
          <a:prstGeom prst="roundRect">
            <a:avLst>
              <a:gd name="adj" fmla="val 3077"/>
            </a:avLst>
          </a:prstGeom>
          <a:solidFill>
            <a:srgbClr val="F2F7F6"/>
          </a:solidFill>
          <a:ln/>
          <a:effectLst>
            <a:outerShdw sx="100000" sy="100000" kx="0" ky="0" algn="bl" rotWithShape="0" blurRad="101600" dist="38100" dir="2700000">
              <a:srgbClr val="000000">
                <a:alpha val="12000"/>
              </a:srgbClr>
            </a:outerShdw>
          </a:effectLst>
        </p:spPr>
      </p:sp>
      <p:sp>
        <p:nvSpPr>
          <p:cNvPr id="13" name="Shape 10"/>
          <p:cNvSpPr/>
          <p:nvPr/>
        </p:nvSpPr>
        <p:spPr>
          <a:xfrm>
            <a:off x="5577840" y="1508760"/>
            <a:ext cx="640080" cy="640080"/>
          </a:xfrm>
          <a:prstGeom prst="ellipse">
            <a:avLst/>
          </a:prstGeom>
          <a:solidFill>
            <a:srgbClr val="0F3D3E"/>
          </a:solidFill>
          <a:ln/>
        </p:spPr>
      </p:sp>
      <p:sp>
        <p:nvSpPr>
          <p:cNvPr id="14" name="Text 11"/>
          <p:cNvSpPr/>
          <p:nvPr/>
        </p:nvSpPr>
        <p:spPr>
          <a:xfrm>
            <a:off x="5577840" y="15087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5" name="Text 12"/>
          <p:cNvSpPr/>
          <p:nvPr/>
        </p:nvSpPr>
        <p:spPr>
          <a:xfrm>
            <a:off x="4617720" y="2286000"/>
            <a:ext cx="2560320" cy="457200"/>
          </a:xfrm>
          <a:prstGeom prst="rect">
            <a:avLst/>
          </a:prstGeom>
          <a:noFill/>
          <a:ln/>
        </p:spPr>
        <p:txBody>
          <a:bodyPr wrap="square" lIns="0" tIns="0" rIns="0" bIns="0" rtlCol="0" anchor="ctr"/>
          <a:lstStyle/>
          <a:p>
            <a:pPr algn="ctr" indent="0" marL="0">
              <a:buNone/>
            </a:pPr>
            <a:r>
              <a:rPr lang="en-US" sz="1600" b="1" dirty="0">
                <a:solidFill>
                  <a:srgbClr val="0F3D3E"/>
                </a:solidFill>
                <a:latin typeface="Calibri" pitchFamily="34" charset="0"/>
                <a:ea typeface="Calibri" pitchFamily="34" charset="-122"/>
                <a:cs typeface="Calibri" pitchFamily="34" charset="-120"/>
              </a:rPr>
              <a:t>Aula com os alunos</a:t>
            </a:r>
            <a:endParaRPr lang="en-US" sz="1600" dirty="0"/>
          </a:p>
        </p:txBody>
      </p:sp>
      <p:sp>
        <p:nvSpPr>
          <p:cNvPr id="16" name="Text 13"/>
          <p:cNvSpPr/>
          <p:nvPr/>
        </p:nvSpPr>
        <p:spPr>
          <a:xfrm>
            <a:off x="4617720" y="2788920"/>
            <a:ext cx="2560320" cy="822960"/>
          </a:xfrm>
          <a:prstGeom prst="rect">
            <a:avLst/>
          </a:prstGeom>
          <a:noFill/>
          <a:ln/>
        </p:spPr>
        <p:txBody>
          <a:bodyPr wrap="square" lIns="0" tIns="0" rIns="0" bIns="0" rtlCol="0" anchor="ctr"/>
          <a:lstStyle/>
          <a:p>
            <a:pPr algn="ctr" indent="0" marL="0">
              <a:lnSpc>
                <a:spcPct val="120000"/>
              </a:lnSpc>
              <a:buNone/>
            </a:pPr>
            <a:r>
              <a:rPr lang="en-US" sz="1250" dirty="0">
                <a:solidFill>
                  <a:srgbClr val="5B6E70"/>
                </a:solidFill>
                <a:latin typeface="Calibri" pitchFamily="34" charset="0"/>
                <a:ea typeface="Calibri" pitchFamily="34" charset="-122"/>
                <a:cs typeface="Calibri" pitchFamily="34" charset="-120"/>
              </a:rPr>
              <a:t>Apoio individualizado</a:t>
            </a:r>
            <a:endParaRPr lang="en-US" sz="1250" dirty="0"/>
          </a:p>
          <a:p>
            <a:pPr algn="ctr" indent="0" marL="0">
              <a:lnSpc>
                <a:spcPct val="120000"/>
              </a:lnSpc>
              <a:buNone/>
            </a:pPr>
            <a:r>
              <a:rPr lang="en-US" sz="1250" dirty="0">
                <a:solidFill>
                  <a:srgbClr val="5B6E70"/>
                </a:solidFill>
                <a:latin typeface="Calibri" pitchFamily="34" charset="0"/>
                <a:ea typeface="Calibri" pitchFamily="34" charset="-122"/>
                <a:cs typeface="Calibri" pitchFamily="34" charset="-120"/>
              </a:rPr>
              <a:t>durante os exercícios</a:t>
            </a:r>
            <a:endParaRPr lang="en-US" sz="1250" dirty="0"/>
          </a:p>
        </p:txBody>
      </p:sp>
      <p:sp>
        <p:nvSpPr>
          <p:cNvPr id="17" name="Text 14"/>
          <p:cNvSpPr/>
          <p:nvPr/>
        </p:nvSpPr>
        <p:spPr>
          <a:xfrm>
            <a:off x="4617720" y="3611880"/>
            <a:ext cx="2560320" cy="457200"/>
          </a:xfrm>
          <a:prstGeom prst="rect">
            <a:avLst/>
          </a:prstGeom>
          <a:noFill/>
          <a:ln/>
        </p:spPr>
        <p:txBody>
          <a:bodyPr wrap="square" lIns="0" tIns="0" rIns="0" bIns="0" rtlCol="0" anchor="ctr"/>
          <a:lstStyle/>
          <a:p>
            <a:pPr algn="ctr" indent="0" marL="0">
              <a:buNone/>
            </a:pPr>
            <a:r>
              <a:rPr lang="en-US" sz="2000" b="1" dirty="0">
                <a:solidFill>
                  <a:srgbClr val="E8A33D"/>
                </a:solidFill>
                <a:latin typeface="Cambria" pitchFamily="34" charset="0"/>
                <a:ea typeface="Cambria" pitchFamily="34" charset="-122"/>
                <a:cs typeface="Cambria" pitchFamily="34" charset="-120"/>
              </a:rPr>
              <a:t>2h</a:t>
            </a:r>
            <a:endParaRPr lang="en-US" sz="2000" dirty="0"/>
          </a:p>
        </p:txBody>
      </p:sp>
      <p:sp>
        <p:nvSpPr>
          <p:cNvPr id="18" name="Shape 15"/>
          <p:cNvSpPr/>
          <p:nvPr/>
        </p:nvSpPr>
        <p:spPr>
          <a:xfrm>
            <a:off x="7502652" y="2816352"/>
            <a:ext cx="402336" cy="402336"/>
          </a:xfrm>
          <a:prstGeom prst="ellipse">
            <a:avLst/>
          </a:prstGeom>
          <a:solidFill>
            <a:srgbClr val="5FA8A0"/>
          </a:solidFill>
          <a:ln/>
        </p:spPr>
      </p:sp>
      <p:pic>
        <p:nvPicPr>
          <p:cNvPr id="19" name="Image 1" descr="preencoded.png">    </p:cNvPr>
          <p:cNvPicPr>
            <a:picLocks noChangeAspect="1"/>
          </p:cNvPicPr>
          <p:nvPr/>
        </p:nvPicPr>
        <p:blipFill>
          <a:blip r:embed="rId2"/>
          <a:stretch>
            <a:fillRect/>
          </a:stretch>
        </p:blipFill>
        <p:spPr>
          <a:xfrm>
            <a:off x="7594092" y="2907792"/>
            <a:ext cx="219456" cy="219456"/>
          </a:xfrm>
          <a:prstGeom prst="rect">
            <a:avLst/>
          </a:prstGeom>
        </p:spPr>
      </p:pic>
      <p:sp>
        <p:nvSpPr>
          <p:cNvPr id="20" name="Shape 16"/>
          <p:cNvSpPr/>
          <p:nvPr/>
        </p:nvSpPr>
        <p:spPr>
          <a:xfrm>
            <a:off x="7955280" y="1828800"/>
            <a:ext cx="3108960" cy="2377440"/>
          </a:xfrm>
          <a:prstGeom prst="roundRect">
            <a:avLst>
              <a:gd name="adj" fmla="val 3077"/>
            </a:avLst>
          </a:prstGeom>
          <a:solidFill>
            <a:srgbClr val="F2F7F6"/>
          </a:solidFill>
          <a:ln/>
          <a:effectLst>
            <a:outerShdw sx="100000" sy="100000" kx="0" ky="0" algn="bl" rotWithShape="0" blurRad="101600" dist="38100" dir="2700000">
              <a:srgbClr val="000000">
                <a:alpha val="12000"/>
              </a:srgbClr>
            </a:outerShdw>
          </a:effectLst>
        </p:spPr>
      </p:sp>
      <p:sp>
        <p:nvSpPr>
          <p:cNvPr id="21" name="Shape 17"/>
          <p:cNvSpPr/>
          <p:nvPr/>
        </p:nvSpPr>
        <p:spPr>
          <a:xfrm>
            <a:off x="9189720" y="1508760"/>
            <a:ext cx="640080" cy="640080"/>
          </a:xfrm>
          <a:prstGeom prst="ellipse">
            <a:avLst/>
          </a:prstGeom>
          <a:solidFill>
            <a:srgbClr val="0F3D3E"/>
          </a:solidFill>
          <a:ln/>
        </p:spPr>
      </p:sp>
      <p:sp>
        <p:nvSpPr>
          <p:cNvPr id="22" name="Text 18"/>
          <p:cNvSpPr/>
          <p:nvPr/>
        </p:nvSpPr>
        <p:spPr>
          <a:xfrm>
            <a:off x="9189720" y="15087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3" name="Text 19"/>
          <p:cNvSpPr/>
          <p:nvPr/>
        </p:nvSpPr>
        <p:spPr>
          <a:xfrm>
            <a:off x="8229600" y="2286000"/>
            <a:ext cx="2560320" cy="457200"/>
          </a:xfrm>
          <a:prstGeom prst="rect">
            <a:avLst/>
          </a:prstGeom>
          <a:noFill/>
          <a:ln/>
        </p:spPr>
        <p:txBody>
          <a:bodyPr wrap="square" lIns="0" tIns="0" rIns="0" bIns="0" rtlCol="0" anchor="ctr"/>
          <a:lstStyle/>
          <a:p>
            <a:pPr algn="ctr" indent="0" marL="0">
              <a:buNone/>
            </a:pPr>
            <a:r>
              <a:rPr lang="en-US" sz="1600" b="1" dirty="0">
                <a:solidFill>
                  <a:srgbClr val="0F3D3E"/>
                </a:solidFill>
                <a:latin typeface="Calibri" pitchFamily="34" charset="0"/>
                <a:ea typeface="Calibri" pitchFamily="34" charset="-122"/>
                <a:cs typeface="Calibri" pitchFamily="34" charset="-120"/>
              </a:rPr>
              <a:t>Reunião posterior</a:t>
            </a:r>
            <a:endParaRPr lang="en-US" sz="1600" dirty="0"/>
          </a:p>
        </p:txBody>
      </p:sp>
      <p:sp>
        <p:nvSpPr>
          <p:cNvPr id="24" name="Text 20"/>
          <p:cNvSpPr/>
          <p:nvPr/>
        </p:nvSpPr>
        <p:spPr>
          <a:xfrm>
            <a:off x="8229600" y="2788920"/>
            <a:ext cx="2560320" cy="822960"/>
          </a:xfrm>
          <a:prstGeom prst="rect">
            <a:avLst/>
          </a:prstGeom>
          <a:noFill/>
          <a:ln/>
        </p:spPr>
        <p:txBody>
          <a:bodyPr wrap="square" lIns="0" tIns="0" rIns="0" bIns="0" rtlCol="0" anchor="ctr"/>
          <a:lstStyle/>
          <a:p>
            <a:pPr algn="ctr" indent="0" marL="0">
              <a:lnSpc>
                <a:spcPct val="120000"/>
              </a:lnSpc>
              <a:buNone/>
            </a:pPr>
            <a:r>
              <a:rPr lang="en-US" sz="1250" dirty="0">
                <a:solidFill>
                  <a:srgbClr val="5B6E70"/>
                </a:solidFill>
                <a:latin typeface="Calibri" pitchFamily="34" charset="0"/>
                <a:ea typeface="Calibri" pitchFamily="34" charset="-122"/>
                <a:cs typeface="Calibri" pitchFamily="34" charset="-120"/>
              </a:rPr>
              <a:t>Avaliação da aula e</a:t>
            </a:r>
            <a:endParaRPr lang="en-US" sz="1250" dirty="0"/>
          </a:p>
          <a:p>
            <a:pPr algn="ctr" indent="0" marL="0">
              <a:lnSpc>
                <a:spcPct val="120000"/>
              </a:lnSpc>
              <a:buNone/>
            </a:pPr>
            <a:r>
              <a:rPr lang="en-US" sz="1250" dirty="0">
                <a:solidFill>
                  <a:srgbClr val="5B6E70"/>
                </a:solidFill>
                <a:latin typeface="Calibri" pitchFamily="34" charset="0"/>
                <a:ea typeface="Calibri" pitchFamily="34" charset="-122"/>
                <a:cs typeface="Calibri" pitchFamily="34" charset="-120"/>
              </a:rPr>
              <a:t>planejamento de revisões</a:t>
            </a:r>
            <a:endParaRPr lang="en-US" sz="1250" dirty="0"/>
          </a:p>
        </p:txBody>
      </p:sp>
      <p:sp>
        <p:nvSpPr>
          <p:cNvPr id="25" name="Text 21"/>
          <p:cNvSpPr/>
          <p:nvPr/>
        </p:nvSpPr>
        <p:spPr>
          <a:xfrm>
            <a:off x="8229600" y="3611880"/>
            <a:ext cx="2560320" cy="457200"/>
          </a:xfrm>
          <a:prstGeom prst="rect">
            <a:avLst/>
          </a:prstGeom>
          <a:noFill/>
          <a:ln/>
        </p:spPr>
        <p:txBody>
          <a:bodyPr wrap="square" lIns="0" tIns="0" rIns="0" bIns="0" rtlCol="0" anchor="ctr"/>
          <a:lstStyle/>
          <a:p>
            <a:pPr algn="ctr" indent="0" marL="0">
              <a:buNone/>
            </a:pPr>
            <a:r>
              <a:rPr lang="en-US" sz="2000" b="1" dirty="0">
                <a:solidFill>
                  <a:srgbClr val="E8A33D"/>
                </a:solidFill>
                <a:latin typeface="Cambria" pitchFamily="34" charset="0"/>
                <a:ea typeface="Cambria" pitchFamily="34" charset="-122"/>
                <a:cs typeface="Cambria" pitchFamily="34" charset="-120"/>
              </a:rPr>
              <a:t>30 min</a:t>
            </a:r>
            <a:endParaRPr lang="en-US" sz="2000" dirty="0"/>
          </a:p>
        </p:txBody>
      </p:sp>
      <p:sp>
        <p:nvSpPr>
          <p:cNvPr id="26" name="Shape 22"/>
          <p:cNvSpPr/>
          <p:nvPr/>
        </p:nvSpPr>
        <p:spPr>
          <a:xfrm>
            <a:off x="731520" y="4663440"/>
            <a:ext cx="10332720" cy="868680"/>
          </a:xfrm>
          <a:prstGeom prst="roundRect">
            <a:avLst>
              <a:gd name="adj" fmla="val 8421"/>
            </a:avLst>
          </a:prstGeom>
          <a:solidFill>
            <a:srgbClr val="0F3D3E"/>
          </a:solidFill>
          <a:ln/>
        </p:spPr>
      </p:sp>
      <p:sp>
        <p:nvSpPr>
          <p:cNvPr id="27" name="Text 23"/>
          <p:cNvSpPr/>
          <p:nvPr/>
        </p:nvSpPr>
        <p:spPr>
          <a:xfrm>
            <a:off x="731520" y="4663440"/>
            <a:ext cx="10332720" cy="868680"/>
          </a:xfrm>
          <a:prstGeom prst="rect">
            <a:avLst/>
          </a:prstGeom>
          <a:noFill/>
          <a:ln/>
        </p:spPr>
        <p:txBody>
          <a:bodyPr wrap="square" lIns="0" tIns="0" rIns="0" bIns="0" rtlCol="0" anchor="ctr"/>
          <a:lstStyle/>
          <a:p>
            <a:pPr algn="ctr" indent="0" marL="0">
              <a:buNone/>
            </a:pPr>
            <a:r>
              <a:rPr lang="en-US" sz="1700" dirty="0">
                <a:solidFill>
                  <a:srgbClr val="FFFFFF"/>
                </a:solidFill>
                <a:latin typeface="Calibri" pitchFamily="34" charset="0"/>
                <a:ea typeface="Calibri" pitchFamily="34" charset="-122"/>
                <a:cs typeface="Calibri" pitchFamily="34" charset="-120"/>
              </a:rPr>
              <a:t>Total por visita:  </a:t>
            </a:r>
            <a:pPr algn="ctr" indent="0" marL="0">
              <a:buNone/>
            </a:pPr>
            <a:r>
              <a:rPr lang="en-US" sz="2200" b="1" dirty="0">
                <a:solidFill>
                  <a:srgbClr val="E8A33D"/>
                </a:solidFill>
                <a:latin typeface="Calibri" pitchFamily="34" charset="0"/>
                <a:ea typeface="Calibri" pitchFamily="34" charset="-122"/>
                <a:cs typeface="Calibri" pitchFamily="34" charset="-120"/>
              </a:rPr>
              <a:t>3 horas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3657600" cy="365760"/>
          </a:xfrm>
          <a:prstGeom prst="rect">
            <a:avLst/>
          </a:prstGeom>
          <a:noFill/>
          <a:ln/>
        </p:spPr>
        <p:txBody>
          <a:bodyPr wrap="square" lIns="0" tIns="0" rIns="0" bIns="0" rtlCol="0" anchor="ctr"/>
          <a:lstStyle/>
          <a:p>
            <a:pPr indent="0" marL="0">
              <a:buNone/>
            </a:pPr>
            <a:r>
              <a:rPr lang="en-US" sz="1300" b="1" spc="200" kern="0" dirty="0">
                <a:solidFill>
                  <a:srgbClr val="5FA8A0"/>
                </a:solidFill>
                <a:latin typeface="Calibri" pitchFamily="34" charset="0"/>
                <a:ea typeface="Calibri" pitchFamily="34" charset="-122"/>
                <a:cs typeface="Calibri" pitchFamily="34" charset="-120"/>
              </a:rPr>
              <a:t>O QUE FOI FEITO</a:t>
            </a:r>
            <a:endParaRPr lang="en-US" sz="1300" dirty="0"/>
          </a:p>
        </p:txBody>
      </p:sp>
      <p:sp>
        <p:nvSpPr>
          <p:cNvPr id="3" name="Text 1"/>
          <p:cNvSpPr/>
          <p:nvPr/>
        </p:nvSpPr>
        <p:spPr>
          <a:xfrm>
            <a:off x="548640" y="777240"/>
            <a:ext cx="10058400" cy="548640"/>
          </a:xfrm>
          <a:prstGeom prst="rect">
            <a:avLst/>
          </a:prstGeom>
          <a:noFill/>
          <a:ln/>
        </p:spPr>
        <p:txBody>
          <a:bodyPr wrap="square" lIns="0" tIns="0" rIns="0" bIns="0" rtlCol="0" anchor="ctr"/>
          <a:lstStyle/>
          <a:p>
            <a:pPr indent="0" marL="0">
              <a:buNone/>
            </a:pPr>
            <a:r>
              <a:rPr lang="en-US" sz="2800" b="1" dirty="0">
                <a:solidFill>
                  <a:srgbClr val="13262B"/>
                </a:solidFill>
                <a:latin typeface="Cambria" pitchFamily="34" charset="0"/>
                <a:ea typeface="Cambria" pitchFamily="34" charset="-122"/>
                <a:cs typeface="Cambria" pitchFamily="34" charset="-120"/>
              </a:rPr>
              <a:t>Professores acompanhados e carga horária</a:t>
            </a:r>
            <a:endParaRPr lang="en-US" sz="2800" dirty="0"/>
          </a:p>
        </p:txBody>
      </p:sp>
      <p:sp>
        <p:nvSpPr>
          <p:cNvPr id="4" name="Shape 2"/>
          <p:cNvSpPr/>
          <p:nvPr/>
        </p:nvSpPr>
        <p:spPr>
          <a:xfrm>
            <a:off x="548640" y="1600200"/>
            <a:ext cx="6400800" cy="4663440"/>
          </a:xfrm>
          <a:prstGeom prst="roundRect">
            <a:avLst>
              <a:gd name="adj" fmla="val 1569"/>
            </a:avLst>
          </a:prstGeom>
          <a:solidFill>
            <a:srgbClr val="F2F7F6"/>
          </a:solidFill>
          <a:ln/>
          <a:effectLst>
            <a:outerShdw sx="100000" sy="100000" kx="0" ky="0" algn="bl" rotWithShape="0" blurRad="101600" dist="38100" dir="27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868680" y="1920240"/>
            <a:ext cx="365760" cy="365760"/>
          </a:xfrm>
          <a:prstGeom prst="rect">
            <a:avLst/>
          </a:prstGeom>
        </p:spPr>
      </p:pic>
      <p:sp>
        <p:nvSpPr>
          <p:cNvPr id="6" name="Text 3"/>
          <p:cNvSpPr/>
          <p:nvPr/>
        </p:nvSpPr>
        <p:spPr>
          <a:xfrm>
            <a:off x="1417320" y="1874520"/>
            <a:ext cx="5212080" cy="320040"/>
          </a:xfrm>
          <a:prstGeom prst="rect">
            <a:avLst/>
          </a:prstGeom>
          <a:noFill/>
          <a:ln/>
        </p:spPr>
        <p:txBody>
          <a:bodyPr wrap="square" lIns="0" tIns="0" rIns="0" bIns="0" rtlCol="0" anchor="ctr"/>
          <a:lstStyle/>
          <a:p>
            <a:pPr indent="0" marL="0">
              <a:buNone/>
            </a:pPr>
            <a:r>
              <a:rPr lang="en-US" sz="1500" b="1" dirty="0">
                <a:solidFill>
                  <a:srgbClr val="0F3D3E"/>
                </a:solidFill>
                <a:latin typeface="Calibri" pitchFamily="34" charset="0"/>
                <a:ea typeface="Calibri" pitchFamily="34" charset="-122"/>
                <a:cs typeface="Calibri" pitchFamily="34" charset="-120"/>
              </a:rPr>
              <a:t>Prof. Agnaldo</a:t>
            </a:r>
            <a:endParaRPr lang="en-US" sz="1500" dirty="0"/>
          </a:p>
        </p:txBody>
      </p:sp>
      <p:sp>
        <p:nvSpPr>
          <p:cNvPr id="7" name="Text 4"/>
          <p:cNvSpPr/>
          <p:nvPr/>
        </p:nvSpPr>
        <p:spPr>
          <a:xfrm>
            <a:off x="1417320" y="2194560"/>
            <a:ext cx="5212080" cy="457200"/>
          </a:xfrm>
          <a:prstGeom prst="rect">
            <a:avLst/>
          </a:prstGeom>
          <a:noFill/>
          <a:ln/>
        </p:spPr>
        <p:txBody>
          <a:bodyPr wrap="square" lIns="0" tIns="0" rIns="0" bIns="0" rtlCol="0" anchor="ctr"/>
          <a:lstStyle/>
          <a:p>
            <a:pPr indent="0" marL="0">
              <a:buNone/>
            </a:pPr>
            <a:r>
              <a:rPr lang="en-US" sz="1200" dirty="0">
                <a:solidFill>
                  <a:srgbClr val="5B6E70"/>
                </a:solidFill>
                <a:latin typeface="Calibri" pitchFamily="34" charset="0"/>
                <a:ea typeface="Calibri" pitchFamily="34" charset="-122"/>
                <a:cs typeface="Calibri" pitchFamily="34" charset="-120"/>
              </a:rPr>
              <a:t>Terças, março–maio · nivelamento do 3º ano</a:t>
            </a:r>
            <a:endParaRPr lang="en-US" sz="1200" dirty="0"/>
          </a:p>
        </p:txBody>
      </p:sp>
      <p:pic>
        <p:nvPicPr>
          <p:cNvPr id="8" name="Image 1" descr="preencoded.png">    </p:cNvPr>
          <p:cNvPicPr>
            <a:picLocks noChangeAspect="1"/>
          </p:cNvPicPr>
          <p:nvPr/>
        </p:nvPicPr>
        <p:blipFill>
          <a:blip r:embed="rId2"/>
          <a:stretch>
            <a:fillRect/>
          </a:stretch>
        </p:blipFill>
        <p:spPr>
          <a:xfrm>
            <a:off x="868680" y="2971800"/>
            <a:ext cx="365760" cy="365760"/>
          </a:xfrm>
          <a:prstGeom prst="rect">
            <a:avLst/>
          </a:prstGeom>
        </p:spPr>
      </p:pic>
      <p:sp>
        <p:nvSpPr>
          <p:cNvPr id="9" name="Text 5"/>
          <p:cNvSpPr/>
          <p:nvPr/>
        </p:nvSpPr>
        <p:spPr>
          <a:xfrm>
            <a:off x="1417320" y="2926080"/>
            <a:ext cx="5212080" cy="320040"/>
          </a:xfrm>
          <a:prstGeom prst="rect">
            <a:avLst/>
          </a:prstGeom>
          <a:noFill/>
          <a:ln/>
        </p:spPr>
        <p:txBody>
          <a:bodyPr wrap="square" lIns="0" tIns="0" rIns="0" bIns="0" rtlCol="0" anchor="ctr"/>
          <a:lstStyle/>
          <a:p>
            <a:pPr indent="0" marL="0">
              <a:buNone/>
            </a:pPr>
            <a:r>
              <a:rPr lang="en-US" sz="1500" b="1" dirty="0">
                <a:solidFill>
                  <a:srgbClr val="0F3D3E"/>
                </a:solidFill>
                <a:latin typeface="Calibri" pitchFamily="34" charset="0"/>
                <a:ea typeface="Calibri" pitchFamily="34" charset="-122"/>
                <a:cs typeface="Calibri" pitchFamily="34" charset="-120"/>
              </a:rPr>
              <a:t>Profa. Ione</a:t>
            </a:r>
            <a:endParaRPr lang="en-US" sz="1500" dirty="0"/>
          </a:p>
        </p:txBody>
      </p:sp>
      <p:sp>
        <p:nvSpPr>
          <p:cNvPr id="10" name="Text 6"/>
          <p:cNvSpPr/>
          <p:nvPr/>
        </p:nvSpPr>
        <p:spPr>
          <a:xfrm>
            <a:off x="1417320" y="3246120"/>
            <a:ext cx="5212080" cy="457200"/>
          </a:xfrm>
          <a:prstGeom prst="rect">
            <a:avLst/>
          </a:prstGeom>
          <a:noFill/>
          <a:ln/>
        </p:spPr>
        <p:txBody>
          <a:bodyPr wrap="square" lIns="0" tIns="0" rIns="0" bIns="0" rtlCol="0" anchor="ctr"/>
          <a:lstStyle/>
          <a:p>
            <a:pPr indent="0" marL="0">
              <a:buNone/>
            </a:pPr>
            <a:r>
              <a:rPr lang="en-US" sz="1200" dirty="0">
                <a:solidFill>
                  <a:srgbClr val="5B6E70"/>
                </a:solidFill>
                <a:latin typeface="Calibri" pitchFamily="34" charset="0"/>
                <a:ea typeface="Calibri" pitchFamily="34" charset="-122"/>
                <a:cs typeface="Calibri" pitchFamily="34" charset="-120"/>
              </a:rPr>
              <a:t>Quartas, abril–julho (eletiva 1º ano) e terças, junho (nivelamento 3º ano)</a:t>
            </a:r>
            <a:endParaRPr lang="en-US" sz="1200" dirty="0"/>
          </a:p>
        </p:txBody>
      </p:sp>
      <p:pic>
        <p:nvPicPr>
          <p:cNvPr id="11" name="Image 2" descr="preencoded.png">    </p:cNvPr>
          <p:cNvPicPr>
            <a:picLocks noChangeAspect="1"/>
          </p:cNvPicPr>
          <p:nvPr/>
        </p:nvPicPr>
        <p:blipFill>
          <a:blip r:embed="rId3"/>
          <a:stretch>
            <a:fillRect/>
          </a:stretch>
        </p:blipFill>
        <p:spPr>
          <a:xfrm>
            <a:off x="868680" y="4023360"/>
            <a:ext cx="365760" cy="365760"/>
          </a:xfrm>
          <a:prstGeom prst="rect">
            <a:avLst/>
          </a:prstGeom>
        </p:spPr>
      </p:pic>
      <p:sp>
        <p:nvSpPr>
          <p:cNvPr id="12" name="Text 7"/>
          <p:cNvSpPr/>
          <p:nvPr/>
        </p:nvSpPr>
        <p:spPr>
          <a:xfrm>
            <a:off x="1417320" y="3977640"/>
            <a:ext cx="5212080" cy="320040"/>
          </a:xfrm>
          <a:prstGeom prst="rect">
            <a:avLst/>
          </a:prstGeom>
          <a:noFill/>
          <a:ln/>
        </p:spPr>
        <p:txBody>
          <a:bodyPr wrap="square" lIns="0" tIns="0" rIns="0" bIns="0" rtlCol="0" anchor="ctr"/>
          <a:lstStyle/>
          <a:p>
            <a:pPr indent="0" marL="0">
              <a:buNone/>
            </a:pPr>
            <a:r>
              <a:rPr lang="en-US" sz="1500" b="1" dirty="0">
                <a:solidFill>
                  <a:srgbClr val="0F3D3E"/>
                </a:solidFill>
                <a:latin typeface="Calibri" pitchFamily="34" charset="0"/>
                <a:ea typeface="Calibri" pitchFamily="34" charset="-122"/>
                <a:cs typeface="Calibri" pitchFamily="34" charset="-120"/>
              </a:rPr>
              <a:t>Prof. Paulo</a:t>
            </a:r>
            <a:endParaRPr lang="en-US" sz="1500" dirty="0"/>
          </a:p>
        </p:txBody>
      </p:sp>
      <p:sp>
        <p:nvSpPr>
          <p:cNvPr id="13" name="Text 8"/>
          <p:cNvSpPr/>
          <p:nvPr/>
        </p:nvSpPr>
        <p:spPr>
          <a:xfrm>
            <a:off x="1417320" y="4297680"/>
            <a:ext cx="5212080" cy="457200"/>
          </a:xfrm>
          <a:prstGeom prst="rect">
            <a:avLst/>
          </a:prstGeom>
          <a:noFill/>
          <a:ln/>
        </p:spPr>
        <p:txBody>
          <a:bodyPr wrap="square" lIns="0" tIns="0" rIns="0" bIns="0" rtlCol="0" anchor="ctr"/>
          <a:lstStyle/>
          <a:p>
            <a:pPr indent="0" marL="0">
              <a:buNone/>
            </a:pPr>
            <a:r>
              <a:rPr lang="en-US" sz="1200" dirty="0">
                <a:solidFill>
                  <a:srgbClr val="5B6E70"/>
                </a:solidFill>
                <a:latin typeface="Calibri" pitchFamily="34" charset="0"/>
                <a:ea typeface="Calibri" pitchFamily="34" charset="-122"/>
                <a:cs typeface="Calibri" pitchFamily="34" charset="-120"/>
              </a:rPr>
              <a:t>Quartas, março–abril · eletiva do 1º ano</a:t>
            </a:r>
            <a:endParaRPr lang="en-US" sz="1200" dirty="0"/>
          </a:p>
        </p:txBody>
      </p:sp>
      <p:pic>
        <p:nvPicPr>
          <p:cNvPr id="14" name="Image 3" descr="preencoded.png">    </p:cNvPr>
          <p:cNvPicPr>
            <a:picLocks noChangeAspect="1"/>
          </p:cNvPicPr>
          <p:nvPr/>
        </p:nvPicPr>
        <p:blipFill>
          <a:blip r:embed="rId4"/>
          <a:stretch>
            <a:fillRect/>
          </a:stretch>
        </p:blipFill>
        <p:spPr>
          <a:xfrm>
            <a:off x="868680" y="5074920"/>
            <a:ext cx="365760" cy="365760"/>
          </a:xfrm>
          <a:prstGeom prst="rect">
            <a:avLst/>
          </a:prstGeom>
        </p:spPr>
      </p:pic>
      <p:sp>
        <p:nvSpPr>
          <p:cNvPr id="15" name="Text 9"/>
          <p:cNvSpPr/>
          <p:nvPr/>
        </p:nvSpPr>
        <p:spPr>
          <a:xfrm>
            <a:off x="1417320" y="5029200"/>
            <a:ext cx="5212080" cy="320040"/>
          </a:xfrm>
          <a:prstGeom prst="rect">
            <a:avLst/>
          </a:prstGeom>
          <a:noFill/>
          <a:ln/>
        </p:spPr>
        <p:txBody>
          <a:bodyPr wrap="square" lIns="0" tIns="0" rIns="0" bIns="0" rtlCol="0" anchor="ctr"/>
          <a:lstStyle/>
          <a:p>
            <a:pPr indent="0" marL="0">
              <a:buNone/>
            </a:pPr>
            <a:r>
              <a:rPr lang="en-US" sz="1500" b="1" dirty="0">
                <a:solidFill>
                  <a:srgbClr val="0F3D3E"/>
                </a:solidFill>
                <a:latin typeface="Calibri" pitchFamily="34" charset="0"/>
                <a:ea typeface="Calibri" pitchFamily="34" charset="-122"/>
                <a:cs typeface="Calibri" pitchFamily="34" charset="-120"/>
              </a:rPr>
              <a:t>Prof. Francisco</a:t>
            </a:r>
            <a:endParaRPr lang="en-US" sz="1500" dirty="0"/>
          </a:p>
        </p:txBody>
      </p:sp>
      <p:sp>
        <p:nvSpPr>
          <p:cNvPr id="16" name="Text 10"/>
          <p:cNvSpPr/>
          <p:nvPr/>
        </p:nvSpPr>
        <p:spPr>
          <a:xfrm>
            <a:off x="1417320" y="5349240"/>
            <a:ext cx="5212080" cy="457200"/>
          </a:xfrm>
          <a:prstGeom prst="rect">
            <a:avLst/>
          </a:prstGeom>
          <a:noFill/>
          <a:ln/>
        </p:spPr>
        <p:txBody>
          <a:bodyPr wrap="square" lIns="0" tIns="0" rIns="0" bIns="0" rtlCol="0" anchor="ctr"/>
          <a:lstStyle/>
          <a:p>
            <a:pPr indent="0" marL="0">
              <a:buNone/>
            </a:pPr>
            <a:r>
              <a:rPr lang="en-US" sz="1200" dirty="0">
                <a:solidFill>
                  <a:srgbClr val="5B6E70"/>
                </a:solidFill>
                <a:latin typeface="Calibri" pitchFamily="34" charset="0"/>
                <a:ea typeface="Calibri" pitchFamily="34" charset="-122"/>
                <a:cs typeface="Calibri" pitchFamily="34" charset="-120"/>
              </a:rPr>
              <a:t>Quartas, junho · turma própria do 3º ano</a:t>
            </a:r>
            <a:endParaRPr lang="en-US" sz="1200" dirty="0"/>
          </a:p>
        </p:txBody>
      </p:sp>
      <p:sp>
        <p:nvSpPr>
          <p:cNvPr id="17" name="Text 11"/>
          <p:cNvSpPr/>
          <p:nvPr/>
        </p:nvSpPr>
        <p:spPr>
          <a:xfrm>
            <a:off x="868680" y="5486400"/>
            <a:ext cx="5760720" cy="640080"/>
          </a:xfrm>
          <a:prstGeom prst="rect">
            <a:avLst/>
          </a:prstGeom>
          <a:noFill/>
          <a:ln/>
        </p:spPr>
        <p:txBody>
          <a:bodyPr wrap="square" lIns="0" tIns="0" rIns="0" bIns="0" rtlCol="0" anchor="ctr"/>
          <a:lstStyle/>
          <a:p>
            <a:pPr indent="0" marL="0">
              <a:buNone/>
            </a:pPr>
            <a:r>
              <a:rPr lang="en-US" sz="1100" i="1" dirty="0">
                <a:solidFill>
                  <a:srgbClr val="5B6E70"/>
                </a:solidFill>
                <a:latin typeface="Calibri" pitchFamily="34" charset="0"/>
                <a:ea typeface="Calibri" pitchFamily="34" charset="-122"/>
                <a:cs typeface="Calibri" pitchFamily="34" charset="-120"/>
              </a:rPr>
              <a:t>Eventos como o Provão Paulista e a OBMEP ocasionalmente exigiram o acompanhamento de turmas diferentes das previstas, em casos isolados.</a:t>
            </a:r>
            <a:endParaRPr lang="en-US" sz="1100" dirty="0"/>
          </a:p>
        </p:txBody>
      </p:sp>
      <p:sp>
        <p:nvSpPr>
          <p:cNvPr id="18" name="Shape 12"/>
          <p:cNvSpPr/>
          <p:nvPr/>
        </p:nvSpPr>
        <p:spPr>
          <a:xfrm>
            <a:off x="7223760" y="1600200"/>
            <a:ext cx="4389120" cy="1417320"/>
          </a:xfrm>
          <a:prstGeom prst="roundRect">
            <a:avLst>
              <a:gd name="adj" fmla="val 5161"/>
            </a:avLst>
          </a:prstGeom>
          <a:solidFill>
            <a:srgbClr val="0F3D3E"/>
          </a:solidFill>
          <a:ln/>
          <a:effectLst>
            <a:outerShdw sx="100000" sy="100000" kx="0" ky="0" algn="bl" rotWithShape="0" blurRad="101600" dist="38100" dir="2700000">
              <a:srgbClr val="000000">
                <a:alpha val="12000"/>
              </a:srgbClr>
            </a:outerShdw>
          </a:effectLst>
        </p:spPr>
      </p:sp>
      <p:sp>
        <p:nvSpPr>
          <p:cNvPr id="19" name="Text 13"/>
          <p:cNvSpPr/>
          <p:nvPr/>
        </p:nvSpPr>
        <p:spPr>
          <a:xfrm>
            <a:off x="7498080" y="1709928"/>
            <a:ext cx="3840480" cy="777240"/>
          </a:xfrm>
          <a:prstGeom prst="rect">
            <a:avLst/>
          </a:prstGeom>
          <a:noFill/>
          <a:ln/>
        </p:spPr>
        <p:txBody>
          <a:bodyPr wrap="square" lIns="0" tIns="0" rIns="0" bIns="0" rtlCol="0" anchor="ctr"/>
          <a:lstStyle/>
          <a:p>
            <a:pPr indent="0" marL="0">
              <a:buNone/>
            </a:pPr>
            <a:r>
              <a:rPr lang="en-US" sz="3800" b="1" dirty="0">
                <a:solidFill>
                  <a:srgbClr val="E8A33D"/>
                </a:solidFill>
                <a:latin typeface="Cambria" pitchFamily="34" charset="0"/>
                <a:ea typeface="Cambria" pitchFamily="34" charset="-122"/>
                <a:cs typeface="Cambria" pitchFamily="34" charset="-120"/>
              </a:rPr>
              <a:t>34</a:t>
            </a:r>
            <a:endParaRPr lang="en-US" sz="3800" dirty="0"/>
          </a:p>
        </p:txBody>
      </p:sp>
      <p:sp>
        <p:nvSpPr>
          <p:cNvPr id="20" name="Text 14"/>
          <p:cNvSpPr/>
          <p:nvPr/>
        </p:nvSpPr>
        <p:spPr>
          <a:xfrm>
            <a:off x="7498080" y="2496312"/>
            <a:ext cx="384048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visitas realizadas</a:t>
            </a:r>
            <a:endParaRPr lang="en-US" sz="1400" dirty="0"/>
          </a:p>
        </p:txBody>
      </p:sp>
      <p:sp>
        <p:nvSpPr>
          <p:cNvPr id="21" name="Shape 15"/>
          <p:cNvSpPr/>
          <p:nvPr/>
        </p:nvSpPr>
        <p:spPr>
          <a:xfrm>
            <a:off x="7223760" y="3246120"/>
            <a:ext cx="4389120" cy="1417320"/>
          </a:xfrm>
          <a:prstGeom prst="roundRect">
            <a:avLst>
              <a:gd name="adj" fmla="val 5161"/>
            </a:avLst>
          </a:prstGeom>
          <a:solidFill>
            <a:srgbClr val="0F3D3E"/>
          </a:solidFill>
          <a:ln/>
          <a:effectLst>
            <a:outerShdw sx="100000" sy="100000" kx="0" ky="0" algn="bl" rotWithShape="0" blurRad="101600" dist="38100" dir="2700000">
              <a:srgbClr val="000000">
                <a:alpha val="12000"/>
              </a:srgbClr>
            </a:outerShdw>
          </a:effectLst>
        </p:spPr>
      </p:sp>
      <p:sp>
        <p:nvSpPr>
          <p:cNvPr id="22" name="Text 16"/>
          <p:cNvSpPr/>
          <p:nvPr/>
        </p:nvSpPr>
        <p:spPr>
          <a:xfrm>
            <a:off x="7498080" y="3355848"/>
            <a:ext cx="3840480" cy="777240"/>
          </a:xfrm>
          <a:prstGeom prst="rect">
            <a:avLst/>
          </a:prstGeom>
          <a:noFill/>
          <a:ln/>
        </p:spPr>
        <p:txBody>
          <a:bodyPr wrap="square" lIns="0" tIns="0" rIns="0" bIns="0" rtlCol="0" anchor="ctr"/>
          <a:lstStyle/>
          <a:p>
            <a:pPr indent="0" marL="0">
              <a:buNone/>
            </a:pPr>
            <a:r>
              <a:rPr lang="en-US" sz="3800" b="1" dirty="0">
                <a:solidFill>
                  <a:srgbClr val="E8A33D"/>
                </a:solidFill>
                <a:latin typeface="Cambria" pitchFamily="34" charset="0"/>
                <a:ea typeface="Cambria" pitchFamily="34" charset="-122"/>
                <a:cs typeface="Cambria" pitchFamily="34" charset="-120"/>
              </a:rPr>
              <a:t>102h</a:t>
            </a:r>
            <a:endParaRPr lang="en-US" sz="3800" dirty="0"/>
          </a:p>
        </p:txBody>
      </p:sp>
      <p:sp>
        <p:nvSpPr>
          <p:cNvPr id="23" name="Text 17"/>
          <p:cNvSpPr/>
          <p:nvPr/>
        </p:nvSpPr>
        <p:spPr>
          <a:xfrm>
            <a:off x="7498080" y="4142232"/>
            <a:ext cx="384048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de atividade total</a:t>
            </a:r>
            <a:endParaRPr lang="en-US" sz="1400" dirty="0"/>
          </a:p>
        </p:txBody>
      </p:sp>
      <p:sp>
        <p:nvSpPr>
          <p:cNvPr id="24" name="Shape 18"/>
          <p:cNvSpPr/>
          <p:nvPr/>
        </p:nvSpPr>
        <p:spPr>
          <a:xfrm>
            <a:off x="7223760" y="4892040"/>
            <a:ext cx="4389120" cy="1417320"/>
          </a:xfrm>
          <a:prstGeom prst="roundRect">
            <a:avLst>
              <a:gd name="adj" fmla="val 5161"/>
            </a:avLst>
          </a:prstGeom>
          <a:solidFill>
            <a:srgbClr val="0F3D3E"/>
          </a:solidFill>
          <a:ln/>
          <a:effectLst>
            <a:outerShdw sx="100000" sy="100000" kx="0" ky="0" algn="bl" rotWithShape="0" blurRad="101600" dist="38100" dir="2700000">
              <a:srgbClr val="000000">
                <a:alpha val="12000"/>
              </a:srgbClr>
            </a:outerShdw>
          </a:effectLst>
        </p:spPr>
      </p:sp>
      <p:sp>
        <p:nvSpPr>
          <p:cNvPr id="25" name="Text 19"/>
          <p:cNvSpPr/>
          <p:nvPr/>
        </p:nvSpPr>
        <p:spPr>
          <a:xfrm>
            <a:off x="7498080" y="5001768"/>
            <a:ext cx="3840480" cy="777240"/>
          </a:xfrm>
          <a:prstGeom prst="rect">
            <a:avLst/>
          </a:prstGeom>
          <a:noFill/>
          <a:ln/>
        </p:spPr>
        <p:txBody>
          <a:bodyPr wrap="square" lIns="0" tIns="0" rIns="0" bIns="0" rtlCol="0" anchor="ctr"/>
          <a:lstStyle/>
          <a:p>
            <a:pPr indent="0" marL="0">
              <a:buNone/>
            </a:pPr>
            <a:r>
              <a:rPr lang="en-US" sz="3800" b="1" dirty="0">
                <a:solidFill>
                  <a:srgbClr val="E8A33D"/>
                </a:solidFill>
                <a:latin typeface="Cambria" pitchFamily="34" charset="0"/>
                <a:ea typeface="Cambria" pitchFamily="34" charset="-122"/>
                <a:cs typeface="Cambria" pitchFamily="34" charset="-120"/>
              </a:rPr>
              <a:t>17 + 17</a:t>
            </a:r>
            <a:endParaRPr lang="en-US" sz="3800" dirty="0"/>
          </a:p>
        </p:txBody>
      </p:sp>
      <p:sp>
        <p:nvSpPr>
          <p:cNvPr id="26" name="Text 20"/>
          <p:cNvSpPr/>
          <p:nvPr/>
        </p:nvSpPr>
        <p:spPr>
          <a:xfrm>
            <a:off x="7498080" y="5788152"/>
            <a:ext cx="384048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aulas (terças + quartas)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3657600" cy="365760"/>
          </a:xfrm>
          <a:prstGeom prst="rect">
            <a:avLst/>
          </a:prstGeom>
          <a:noFill/>
          <a:ln/>
        </p:spPr>
        <p:txBody>
          <a:bodyPr wrap="square" lIns="0" tIns="0" rIns="0" bIns="0" rtlCol="0" anchor="ctr"/>
          <a:lstStyle/>
          <a:p>
            <a:pPr indent="0" marL="0">
              <a:buNone/>
            </a:pPr>
            <a:r>
              <a:rPr lang="en-US" sz="1300" b="1" spc="200" kern="0" dirty="0">
                <a:solidFill>
                  <a:srgbClr val="5FA8A0"/>
                </a:solidFill>
                <a:latin typeface="Calibri" pitchFamily="34" charset="0"/>
                <a:ea typeface="Calibri" pitchFamily="34" charset="-122"/>
                <a:cs typeface="Calibri" pitchFamily="34" charset="-120"/>
              </a:rPr>
              <a:t>O QUE FOI FEITO</a:t>
            </a:r>
            <a:endParaRPr lang="en-US" sz="1300" dirty="0"/>
          </a:p>
        </p:txBody>
      </p:sp>
      <p:sp>
        <p:nvSpPr>
          <p:cNvPr id="3" name="Text 1"/>
          <p:cNvSpPr/>
          <p:nvPr/>
        </p:nvSpPr>
        <p:spPr>
          <a:xfrm>
            <a:off x="548640" y="777240"/>
            <a:ext cx="9144000" cy="548640"/>
          </a:xfrm>
          <a:prstGeom prst="rect">
            <a:avLst/>
          </a:prstGeom>
          <a:noFill/>
          <a:ln/>
        </p:spPr>
        <p:txBody>
          <a:bodyPr wrap="square" lIns="0" tIns="0" rIns="0" bIns="0" rtlCol="0" anchor="ctr"/>
          <a:lstStyle/>
          <a:p>
            <a:pPr indent="0" marL="0">
              <a:buNone/>
            </a:pPr>
            <a:r>
              <a:rPr lang="en-US" sz="3000" b="1" dirty="0">
                <a:solidFill>
                  <a:srgbClr val="13262B"/>
                </a:solidFill>
                <a:latin typeface="Cambria" pitchFamily="34" charset="0"/>
                <a:ea typeface="Cambria" pitchFamily="34" charset="-122"/>
                <a:cs typeface="Cambria" pitchFamily="34" charset="-120"/>
              </a:rPr>
              <a:t>Cronograma de aulas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10698480" cy="4206240"/>
        </p:xfrm>
        <a:graphic>
          <a:graphicData uri="http://schemas.openxmlformats.org/drawingml/2006/table">
            <a:tbl>
              <a:tblPr/>
              <a:tblGrid>
                <a:gridCol w="2286000"/>
                <a:gridCol w="2926080"/>
                <a:gridCol w="2926080"/>
                <a:gridCol w="2560320"/>
              </a:tblGrid>
              <a:tr h="64008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Mês</a:t>
                      </a:r>
                      <a:endParaRPr lang="en-US" sz="14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solidFill>
                      <a:srgbClr val="0F3D3E"/>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Terças</a:t>
                      </a:r>
                      <a:endParaRPr lang="en-US" sz="14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solidFill>
                      <a:srgbClr val="0F3D3E"/>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Quartas</a:t>
                      </a:r>
                      <a:endParaRPr lang="en-US" sz="14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solidFill>
                      <a:srgbClr val="0F3D3E"/>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solidFill>
                      <a:srgbClr val="0F3D3E"/>
                    </a:solidFill>
                  </a:tcPr>
                </a:tc>
              </a:tr>
              <a:tr h="713232">
                <a:tc>
                  <a:txBody>
                    <a:bodyPr/>
                    <a:lstStyle/>
                    <a:p>
                      <a:pPr algn="ctr" indent="0" marL="0">
                        <a:buNone/>
                      </a:pPr>
                      <a:r>
                        <a:rPr lang="en-US" sz="1300" dirty="0">
                          <a:solidFill>
                            <a:srgbClr val="13262B"/>
                          </a:solidFill>
                          <a:latin typeface="Calibri" pitchFamily="34" charset="0"/>
                          <a:ea typeface="Calibri" pitchFamily="34" charset="-122"/>
                          <a:cs typeface="Calibri" pitchFamily="34" charset="-120"/>
                        </a:rPr>
                        <a:t>Março</a:t>
                      </a:r>
                      <a:endParaRPr lang="en-US" sz="13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tcPr>
                </a:tc>
                <a:tc>
                  <a:txBody>
                    <a:bodyPr/>
                    <a:lstStyle/>
                    <a:p>
                      <a:pPr algn="ctr" indent="0" marL="0">
                        <a:buNone/>
                      </a:pPr>
                      <a:r>
                        <a:rPr lang="en-US" sz="1300" dirty="0">
                          <a:solidFill>
                            <a:srgbClr val="13262B"/>
                          </a:solidFill>
                          <a:latin typeface="Calibri" pitchFamily="34" charset="0"/>
                          <a:ea typeface="Calibri" pitchFamily="34" charset="-122"/>
                          <a:cs typeface="Calibri" pitchFamily="34" charset="-120"/>
                        </a:rPr>
                        <a:t>5 aulas</a:t>
                      </a:r>
                      <a:endParaRPr lang="en-US" sz="13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tcPr>
                </a:tc>
                <a:tc>
                  <a:txBody>
                    <a:bodyPr/>
                    <a:lstStyle/>
                    <a:p>
                      <a:pPr algn="ctr" indent="0" marL="0">
                        <a:buNone/>
                      </a:pPr>
                      <a:r>
                        <a:rPr lang="en-US" sz="1300" dirty="0">
                          <a:solidFill>
                            <a:srgbClr val="13262B"/>
                          </a:solidFill>
                          <a:latin typeface="Calibri" pitchFamily="34" charset="0"/>
                          <a:ea typeface="Calibri" pitchFamily="34" charset="-122"/>
                          <a:cs typeface="Calibri" pitchFamily="34" charset="-120"/>
                        </a:rPr>
                        <a:t>4 aulas</a:t>
                      </a:r>
                      <a:endParaRPr lang="en-US" sz="13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tcPr>
                </a:tc>
                <a:tc>
                  <a:txBody>
                    <a:bodyPr/>
                    <a:lstStyle/>
                    <a:p>
                      <a:pPr algn="ctr" indent="0" marL="0">
                        <a:buNone/>
                      </a:pPr>
                      <a:r>
                        <a:rPr lang="en-US" sz="1300" b="1" dirty="0">
                          <a:solidFill>
                            <a:srgbClr val="13262B"/>
                          </a:solidFill>
                          <a:latin typeface="Calibri" pitchFamily="34" charset="0"/>
                          <a:ea typeface="Calibri" pitchFamily="34" charset="-122"/>
                          <a:cs typeface="Calibri" pitchFamily="34" charset="-120"/>
                        </a:rPr>
                        <a:t>9 aulas / 27h</a:t>
                      </a:r>
                      <a:endParaRPr lang="en-US" sz="13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tcPr>
                </a:tc>
              </a:tr>
              <a:tr h="713232">
                <a:tc>
                  <a:txBody>
                    <a:bodyPr/>
                    <a:lstStyle/>
                    <a:p>
                      <a:pPr algn="ctr" indent="0" marL="0">
                        <a:buNone/>
                      </a:pPr>
                      <a:r>
                        <a:rPr lang="en-US" sz="1300" dirty="0">
                          <a:solidFill>
                            <a:srgbClr val="13262B"/>
                          </a:solidFill>
                          <a:latin typeface="Calibri" pitchFamily="34" charset="0"/>
                          <a:ea typeface="Calibri" pitchFamily="34" charset="-122"/>
                          <a:cs typeface="Calibri" pitchFamily="34" charset="-120"/>
                        </a:rPr>
                        <a:t>Abril</a:t>
                      </a:r>
                      <a:endParaRPr lang="en-US" sz="13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solidFill>
                      <a:srgbClr val="F2F7F6"/>
                    </a:solidFill>
                  </a:tcPr>
                </a:tc>
                <a:tc>
                  <a:txBody>
                    <a:bodyPr/>
                    <a:lstStyle/>
                    <a:p>
                      <a:pPr algn="ctr" indent="0" marL="0">
                        <a:buNone/>
                      </a:pPr>
                      <a:r>
                        <a:rPr lang="en-US" sz="1300" dirty="0">
                          <a:solidFill>
                            <a:srgbClr val="13262B"/>
                          </a:solidFill>
                          <a:latin typeface="Calibri" pitchFamily="34" charset="0"/>
                          <a:ea typeface="Calibri" pitchFamily="34" charset="-122"/>
                          <a:cs typeface="Calibri" pitchFamily="34" charset="-120"/>
                        </a:rPr>
                        <a:t>3 aulas</a:t>
                      </a:r>
                      <a:endParaRPr lang="en-US" sz="13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solidFill>
                      <a:srgbClr val="F2F7F6"/>
                    </a:solidFill>
                  </a:tcPr>
                </a:tc>
                <a:tc>
                  <a:txBody>
                    <a:bodyPr/>
                    <a:lstStyle/>
                    <a:p>
                      <a:pPr algn="ctr" indent="0" marL="0">
                        <a:buNone/>
                      </a:pPr>
                      <a:r>
                        <a:rPr lang="en-US" sz="1300" dirty="0">
                          <a:solidFill>
                            <a:srgbClr val="13262B"/>
                          </a:solidFill>
                          <a:latin typeface="Calibri" pitchFamily="34" charset="0"/>
                          <a:ea typeface="Calibri" pitchFamily="34" charset="-122"/>
                          <a:cs typeface="Calibri" pitchFamily="34" charset="-120"/>
                        </a:rPr>
                        <a:t>5 aulas</a:t>
                      </a:r>
                      <a:endParaRPr lang="en-US" sz="13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solidFill>
                      <a:srgbClr val="F2F7F6"/>
                    </a:solidFill>
                  </a:tcPr>
                </a:tc>
                <a:tc>
                  <a:txBody>
                    <a:bodyPr/>
                    <a:lstStyle/>
                    <a:p>
                      <a:pPr algn="ctr" indent="0" marL="0">
                        <a:buNone/>
                      </a:pPr>
                      <a:r>
                        <a:rPr lang="en-US" sz="1300" b="1" dirty="0">
                          <a:solidFill>
                            <a:srgbClr val="13262B"/>
                          </a:solidFill>
                          <a:latin typeface="Calibri" pitchFamily="34" charset="0"/>
                          <a:ea typeface="Calibri" pitchFamily="34" charset="-122"/>
                          <a:cs typeface="Calibri" pitchFamily="34" charset="-120"/>
                        </a:rPr>
                        <a:t>8 aulas / 24h</a:t>
                      </a:r>
                      <a:endParaRPr lang="en-US" sz="13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solidFill>
                      <a:srgbClr val="F2F7F6"/>
                    </a:solidFill>
                  </a:tcPr>
                </a:tc>
              </a:tr>
              <a:tr h="713232">
                <a:tc>
                  <a:txBody>
                    <a:bodyPr/>
                    <a:lstStyle/>
                    <a:p>
                      <a:pPr algn="ctr" indent="0" marL="0">
                        <a:buNone/>
                      </a:pPr>
                      <a:r>
                        <a:rPr lang="en-US" sz="1300" dirty="0">
                          <a:solidFill>
                            <a:srgbClr val="13262B"/>
                          </a:solidFill>
                          <a:latin typeface="Calibri" pitchFamily="34" charset="0"/>
                          <a:ea typeface="Calibri" pitchFamily="34" charset="-122"/>
                          <a:cs typeface="Calibri" pitchFamily="34" charset="-120"/>
                        </a:rPr>
                        <a:t>Maio</a:t>
                      </a:r>
                      <a:endParaRPr lang="en-US" sz="13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tcPr>
                </a:tc>
                <a:tc>
                  <a:txBody>
                    <a:bodyPr/>
                    <a:lstStyle/>
                    <a:p>
                      <a:pPr algn="ctr" indent="0" marL="0">
                        <a:buNone/>
                      </a:pPr>
                      <a:r>
                        <a:rPr lang="en-US" sz="1300" dirty="0">
                          <a:solidFill>
                            <a:srgbClr val="13262B"/>
                          </a:solidFill>
                          <a:latin typeface="Calibri" pitchFamily="34" charset="0"/>
                          <a:ea typeface="Calibri" pitchFamily="34" charset="-122"/>
                          <a:cs typeface="Calibri" pitchFamily="34" charset="-120"/>
                        </a:rPr>
                        <a:t>4 aulas</a:t>
                      </a:r>
                      <a:endParaRPr lang="en-US" sz="13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tcPr>
                </a:tc>
                <a:tc>
                  <a:txBody>
                    <a:bodyPr/>
                    <a:lstStyle/>
                    <a:p>
                      <a:pPr algn="ctr" indent="0" marL="0">
                        <a:buNone/>
                      </a:pPr>
                      <a:r>
                        <a:rPr lang="en-US" sz="1300" dirty="0">
                          <a:solidFill>
                            <a:srgbClr val="13262B"/>
                          </a:solidFill>
                          <a:latin typeface="Calibri" pitchFamily="34" charset="0"/>
                          <a:ea typeface="Calibri" pitchFamily="34" charset="-122"/>
                          <a:cs typeface="Calibri" pitchFamily="34" charset="-120"/>
                        </a:rPr>
                        <a:t>4 aulas</a:t>
                      </a:r>
                      <a:endParaRPr lang="en-US" sz="13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tcPr>
                </a:tc>
                <a:tc>
                  <a:txBody>
                    <a:bodyPr/>
                    <a:lstStyle/>
                    <a:p>
                      <a:pPr algn="ctr" indent="0" marL="0">
                        <a:buNone/>
                      </a:pPr>
                      <a:r>
                        <a:rPr lang="en-US" sz="1300" b="1" dirty="0">
                          <a:solidFill>
                            <a:srgbClr val="13262B"/>
                          </a:solidFill>
                          <a:latin typeface="Calibri" pitchFamily="34" charset="0"/>
                          <a:ea typeface="Calibri" pitchFamily="34" charset="-122"/>
                          <a:cs typeface="Calibri" pitchFamily="34" charset="-120"/>
                        </a:rPr>
                        <a:t>8 aulas / 24h</a:t>
                      </a:r>
                      <a:endParaRPr lang="en-US" sz="13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tcPr>
                </a:tc>
              </a:tr>
              <a:tr h="713232">
                <a:tc>
                  <a:txBody>
                    <a:bodyPr/>
                    <a:lstStyle/>
                    <a:p>
                      <a:pPr algn="ctr" indent="0" marL="0">
                        <a:buNone/>
                      </a:pPr>
                      <a:r>
                        <a:rPr lang="en-US" sz="1300" dirty="0">
                          <a:solidFill>
                            <a:srgbClr val="13262B"/>
                          </a:solidFill>
                          <a:latin typeface="Calibri" pitchFamily="34" charset="0"/>
                          <a:ea typeface="Calibri" pitchFamily="34" charset="-122"/>
                          <a:cs typeface="Calibri" pitchFamily="34" charset="-120"/>
                        </a:rPr>
                        <a:t>Junho</a:t>
                      </a:r>
                      <a:endParaRPr lang="en-US" sz="13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solidFill>
                      <a:srgbClr val="F2F7F6"/>
                    </a:solidFill>
                  </a:tcPr>
                </a:tc>
                <a:tc>
                  <a:txBody>
                    <a:bodyPr/>
                    <a:lstStyle/>
                    <a:p>
                      <a:pPr algn="ctr" indent="0" marL="0">
                        <a:buNone/>
                      </a:pPr>
                      <a:r>
                        <a:rPr lang="en-US" sz="1300" dirty="0">
                          <a:solidFill>
                            <a:srgbClr val="13262B"/>
                          </a:solidFill>
                          <a:latin typeface="Calibri" pitchFamily="34" charset="0"/>
                          <a:ea typeface="Calibri" pitchFamily="34" charset="-122"/>
                          <a:cs typeface="Calibri" pitchFamily="34" charset="-120"/>
                        </a:rPr>
                        <a:t>5 aulas</a:t>
                      </a:r>
                      <a:endParaRPr lang="en-US" sz="13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solidFill>
                      <a:srgbClr val="F2F7F6"/>
                    </a:solidFill>
                  </a:tcPr>
                </a:tc>
                <a:tc>
                  <a:txBody>
                    <a:bodyPr/>
                    <a:lstStyle/>
                    <a:p>
                      <a:pPr algn="ctr" indent="0" marL="0">
                        <a:buNone/>
                      </a:pPr>
                      <a:r>
                        <a:rPr lang="en-US" sz="1300" dirty="0">
                          <a:solidFill>
                            <a:srgbClr val="13262B"/>
                          </a:solidFill>
                          <a:latin typeface="Calibri" pitchFamily="34" charset="0"/>
                          <a:ea typeface="Calibri" pitchFamily="34" charset="-122"/>
                          <a:cs typeface="Calibri" pitchFamily="34" charset="-120"/>
                        </a:rPr>
                        <a:t>4 aulas</a:t>
                      </a:r>
                      <a:endParaRPr lang="en-US" sz="13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solidFill>
                      <a:srgbClr val="F2F7F6"/>
                    </a:solidFill>
                  </a:tcPr>
                </a:tc>
                <a:tc>
                  <a:txBody>
                    <a:bodyPr/>
                    <a:lstStyle/>
                    <a:p>
                      <a:pPr algn="ctr" indent="0" marL="0">
                        <a:buNone/>
                      </a:pPr>
                      <a:r>
                        <a:rPr lang="en-US" sz="1300" b="1" dirty="0">
                          <a:solidFill>
                            <a:srgbClr val="13262B"/>
                          </a:solidFill>
                          <a:latin typeface="Calibri" pitchFamily="34" charset="0"/>
                          <a:ea typeface="Calibri" pitchFamily="34" charset="-122"/>
                          <a:cs typeface="Calibri" pitchFamily="34" charset="-120"/>
                        </a:rPr>
                        <a:t>9 aulas / 27h</a:t>
                      </a:r>
                      <a:endParaRPr lang="en-US" sz="13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solidFill>
                      <a:srgbClr val="F2F7F6"/>
                    </a:solidFill>
                  </a:tcPr>
                </a:tc>
              </a:tr>
              <a:tr h="71323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solidFill>
                      <a:srgbClr val="1C6E6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17 aulas</a:t>
                      </a:r>
                      <a:endParaRPr lang="en-US" sz="14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solidFill>
                      <a:srgbClr val="1C6E6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17 aulas</a:t>
                      </a:r>
                      <a:endParaRPr lang="en-US" sz="14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solidFill>
                      <a:srgbClr val="1C6E6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34 aulas / 102h</a:t>
                      </a:r>
                      <a:endParaRPr lang="en-US" sz="1400" dirty="0">
                        <a:latin typeface="Calibri" charset="0"/>
                        <a:ea typeface="Calibri" charset="0"/>
                        <a:cs typeface="Calibri" charset="0"/>
                      </a:endParaRPr>
                    </a:p>
                  </a:txBody>
                  <a:tcPr marL="91440" marR="91440" marT="45720" marB="45720" anchor="ctr">
                    <a:lnL w="6350" cap="flat" cmpd="sng" algn="ctr">
                      <a:solidFill>
                        <a:srgbClr val="D8E4E2"/>
                      </a:solidFill>
                      <a:prstDash val="solid"/>
                      <a:round/>
                      <a:headEnd type="none" w="med" len="med"/>
                      <a:tailEnd type="none" w="med" len="med"/>
                    </a:lnL>
                    <a:lnR w="6350" cap="flat" cmpd="sng" algn="ctr">
                      <a:solidFill>
                        <a:srgbClr val="D8E4E2"/>
                      </a:solidFill>
                      <a:prstDash val="solid"/>
                      <a:round/>
                      <a:headEnd type="none" w="med" len="med"/>
                      <a:tailEnd type="none" w="med" len="med"/>
                    </a:lnR>
                    <a:lnT w="6350" cap="flat" cmpd="sng" algn="ctr">
                      <a:solidFill>
                        <a:srgbClr val="D8E4E2"/>
                      </a:solidFill>
                      <a:prstDash val="solid"/>
                      <a:round/>
                      <a:headEnd type="none" w="med" len="med"/>
                      <a:tailEnd type="none" w="med" len="med"/>
                    </a:lnT>
                    <a:lnB w="6350" cap="flat" cmpd="sng" algn="ctr">
                      <a:solidFill>
                        <a:srgbClr val="D8E4E2"/>
                      </a:solidFill>
                      <a:prstDash val="solid"/>
                      <a:round/>
                      <a:headEnd type="none" w="med" len="med"/>
                      <a:tailEnd type="none" w="med" len="med"/>
                    </a:lnB>
                    <a:solidFill>
                      <a:srgbClr val="1C6E6F"/>
                    </a:solidFill>
                  </a:tcPr>
                </a:tc>
              </a:tr>
            </a:tbl>
          </a:graphicData>
        </a:graphic>
      </p:graphicFrame>
      <p:sp>
        <p:nvSpPr>
          <p:cNvPr id="5" name="Text 2"/>
          <p:cNvSpPr/>
          <p:nvPr/>
        </p:nvSpPr>
        <p:spPr>
          <a:xfrm>
            <a:off x="731520" y="6080760"/>
            <a:ext cx="10698480" cy="365760"/>
          </a:xfrm>
          <a:prstGeom prst="rect">
            <a:avLst/>
          </a:prstGeom>
          <a:noFill/>
          <a:ln/>
        </p:spPr>
        <p:txBody>
          <a:bodyPr wrap="square" lIns="0" tIns="0" rIns="0" bIns="0" rtlCol="0" anchor="ctr"/>
          <a:lstStyle/>
          <a:p>
            <a:pPr indent="0" marL="0">
              <a:buNone/>
            </a:pPr>
            <a:r>
              <a:rPr lang="en-US" sz="1200" i="1" dirty="0">
                <a:solidFill>
                  <a:srgbClr val="5B6E70"/>
                </a:solidFill>
                <a:latin typeface="Calibri" pitchFamily="34" charset="0"/>
                <a:ea typeface="Calibri" pitchFamily="34" charset="-122"/>
                <a:cs typeface="Calibri" pitchFamily="34" charset="-120"/>
              </a:rPr>
              <a:t>Calendário de março a junho de 2026, desconsiderando feriados e o Provão Paulista.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3657600" cy="365760"/>
          </a:xfrm>
          <a:prstGeom prst="rect">
            <a:avLst/>
          </a:prstGeom>
          <a:noFill/>
          <a:ln/>
        </p:spPr>
        <p:txBody>
          <a:bodyPr wrap="square" lIns="0" tIns="0" rIns="0" bIns="0" rtlCol="0" anchor="ctr"/>
          <a:lstStyle/>
          <a:p>
            <a:pPr indent="0" marL="0">
              <a:buNone/>
            </a:pPr>
            <a:r>
              <a:rPr lang="en-US" sz="1300" b="1" spc="200" kern="0" dirty="0">
                <a:solidFill>
                  <a:srgbClr val="5FA8A0"/>
                </a:solidFill>
                <a:latin typeface="Calibri" pitchFamily="34" charset="0"/>
                <a:ea typeface="Calibri" pitchFamily="34" charset="-122"/>
                <a:cs typeface="Calibri" pitchFamily="34" charset="-120"/>
              </a:rPr>
              <a:t>RESULTADOS — TERÇAS</a:t>
            </a:r>
            <a:endParaRPr lang="en-US" sz="1300" dirty="0"/>
          </a:p>
        </p:txBody>
      </p:sp>
      <p:sp>
        <p:nvSpPr>
          <p:cNvPr id="3" name="Text 1"/>
          <p:cNvSpPr/>
          <p:nvPr/>
        </p:nvSpPr>
        <p:spPr>
          <a:xfrm>
            <a:off x="548640" y="777240"/>
            <a:ext cx="10058400" cy="548640"/>
          </a:xfrm>
          <a:prstGeom prst="rect">
            <a:avLst/>
          </a:prstGeom>
          <a:noFill/>
          <a:ln/>
        </p:spPr>
        <p:txBody>
          <a:bodyPr wrap="square" lIns="0" tIns="0" rIns="0" bIns="0" rtlCol="0" anchor="ctr"/>
          <a:lstStyle/>
          <a:p>
            <a:pPr indent="0" marL="0">
              <a:buNone/>
            </a:pPr>
            <a:r>
              <a:rPr lang="en-US" sz="2800" b="1" dirty="0">
                <a:solidFill>
                  <a:srgbClr val="13262B"/>
                </a:solidFill>
                <a:latin typeface="Cambria" pitchFamily="34" charset="0"/>
                <a:ea typeface="Cambria" pitchFamily="34" charset="-122"/>
                <a:cs typeface="Cambria" pitchFamily="34" charset="-120"/>
              </a:rPr>
              <a:t>3º Ano: da memorização ao raciocínio</a:t>
            </a:r>
            <a:endParaRPr lang="en-US" sz="2800" dirty="0"/>
          </a:p>
        </p:txBody>
      </p:sp>
      <p:sp>
        <p:nvSpPr>
          <p:cNvPr id="4" name="Shape 2"/>
          <p:cNvSpPr/>
          <p:nvPr/>
        </p:nvSpPr>
        <p:spPr>
          <a:xfrm>
            <a:off x="1005840" y="1920240"/>
            <a:ext cx="9966960" cy="0"/>
          </a:xfrm>
          <a:prstGeom prst="line">
            <a:avLst/>
          </a:prstGeom>
          <a:noFill/>
          <a:ln w="25400">
            <a:solidFill>
              <a:srgbClr val="5FA8A0"/>
            </a:solidFill>
            <a:prstDash val="solid"/>
          </a:ln>
        </p:spPr>
      </p:sp>
      <p:sp>
        <p:nvSpPr>
          <p:cNvPr id="5" name="Shape 3"/>
          <p:cNvSpPr/>
          <p:nvPr/>
        </p:nvSpPr>
        <p:spPr>
          <a:xfrm>
            <a:off x="896112" y="1810512"/>
            <a:ext cx="219456" cy="219456"/>
          </a:xfrm>
          <a:prstGeom prst="ellipse">
            <a:avLst/>
          </a:prstGeom>
          <a:solidFill>
            <a:srgbClr val="0F3D3E"/>
          </a:solidFill>
          <a:ln/>
        </p:spPr>
      </p:sp>
      <p:sp>
        <p:nvSpPr>
          <p:cNvPr id="6" name="Text 4"/>
          <p:cNvSpPr/>
          <p:nvPr/>
        </p:nvSpPr>
        <p:spPr>
          <a:xfrm>
            <a:off x="91440" y="2148840"/>
            <a:ext cx="1828800" cy="640080"/>
          </a:xfrm>
          <a:prstGeom prst="rect">
            <a:avLst/>
          </a:prstGeom>
          <a:noFill/>
          <a:ln/>
        </p:spPr>
        <p:txBody>
          <a:bodyPr wrap="square" lIns="0" tIns="0" rIns="0" bIns="0" rtlCol="0" anchor="ctr"/>
          <a:lstStyle/>
          <a:p>
            <a:pPr algn="ctr" indent="0" marL="0">
              <a:buNone/>
            </a:pPr>
            <a:r>
              <a:rPr lang="en-US" sz="1150" dirty="0">
                <a:solidFill>
                  <a:srgbClr val="13262B"/>
                </a:solidFill>
                <a:latin typeface="Calibri" pitchFamily="34" charset="0"/>
                <a:ea typeface="Calibri" pitchFamily="34" charset="-122"/>
                <a:cs typeface="Calibri" pitchFamily="34" charset="-120"/>
              </a:rPr>
              <a:t>Notação científica</a:t>
            </a:r>
            <a:endParaRPr lang="en-US" sz="1150" dirty="0"/>
          </a:p>
        </p:txBody>
      </p:sp>
      <p:sp>
        <p:nvSpPr>
          <p:cNvPr id="7" name="Shape 5"/>
          <p:cNvSpPr/>
          <p:nvPr/>
        </p:nvSpPr>
        <p:spPr>
          <a:xfrm>
            <a:off x="3387852" y="1810512"/>
            <a:ext cx="219456" cy="219456"/>
          </a:xfrm>
          <a:prstGeom prst="ellipse">
            <a:avLst/>
          </a:prstGeom>
          <a:solidFill>
            <a:srgbClr val="0F3D3E"/>
          </a:solidFill>
          <a:ln/>
        </p:spPr>
      </p:sp>
      <p:sp>
        <p:nvSpPr>
          <p:cNvPr id="8" name="Text 6"/>
          <p:cNvSpPr/>
          <p:nvPr/>
        </p:nvSpPr>
        <p:spPr>
          <a:xfrm>
            <a:off x="2583180" y="2148840"/>
            <a:ext cx="1828800" cy="640080"/>
          </a:xfrm>
          <a:prstGeom prst="rect">
            <a:avLst/>
          </a:prstGeom>
          <a:noFill/>
          <a:ln/>
        </p:spPr>
        <p:txBody>
          <a:bodyPr wrap="square" lIns="0" tIns="0" rIns="0" bIns="0" rtlCol="0" anchor="ctr"/>
          <a:lstStyle/>
          <a:p>
            <a:pPr algn="ctr" indent="0" marL="0">
              <a:buNone/>
            </a:pPr>
            <a:r>
              <a:rPr lang="en-US" sz="1150" dirty="0">
                <a:solidFill>
                  <a:srgbClr val="13262B"/>
                </a:solidFill>
                <a:latin typeface="Calibri" pitchFamily="34" charset="0"/>
                <a:ea typeface="Calibri" pitchFamily="34" charset="-122"/>
                <a:cs typeface="Calibri" pitchFamily="34" charset="-120"/>
              </a:rPr>
              <a:t>Porcentagem e juros</a:t>
            </a:r>
            <a:endParaRPr lang="en-US" sz="1150" dirty="0"/>
          </a:p>
        </p:txBody>
      </p:sp>
      <p:sp>
        <p:nvSpPr>
          <p:cNvPr id="9" name="Shape 7"/>
          <p:cNvSpPr/>
          <p:nvPr/>
        </p:nvSpPr>
        <p:spPr>
          <a:xfrm>
            <a:off x="5879592" y="1810512"/>
            <a:ext cx="219456" cy="219456"/>
          </a:xfrm>
          <a:prstGeom prst="ellipse">
            <a:avLst/>
          </a:prstGeom>
          <a:solidFill>
            <a:srgbClr val="0F3D3E"/>
          </a:solidFill>
          <a:ln/>
        </p:spPr>
      </p:sp>
      <p:sp>
        <p:nvSpPr>
          <p:cNvPr id="10" name="Text 8"/>
          <p:cNvSpPr/>
          <p:nvPr/>
        </p:nvSpPr>
        <p:spPr>
          <a:xfrm>
            <a:off x="5074920" y="2148840"/>
            <a:ext cx="1828800" cy="640080"/>
          </a:xfrm>
          <a:prstGeom prst="rect">
            <a:avLst/>
          </a:prstGeom>
          <a:noFill/>
          <a:ln/>
        </p:spPr>
        <p:txBody>
          <a:bodyPr wrap="square" lIns="0" tIns="0" rIns="0" bIns="0" rtlCol="0" anchor="ctr"/>
          <a:lstStyle/>
          <a:p>
            <a:pPr algn="ctr" indent="0" marL="0">
              <a:buNone/>
            </a:pPr>
            <a:r>
              <a:rPr lang="en-US" sz="1150" dirty="0">
                <a:solidFill>
                  <a:srgbClr val="13262B"/>
                </a:solidFill>
                <a:latin typeface="Calibri" pitchFamily="34" charset="0"/>
                <a:ea typeface="Calibri" pitchFamily="34" charset="-122"/>
                <a:cs typeface="Calibri" pitchFamily="34" charset="-120"/>
              </a:rPr>
              <a:t>Funções e eq. lineares</a:t>
            </a:r>
            <a:endParaRPr lang="en-US" sz="1150" dirty="0"/>
          </a:p>
        </p:txBody>
      </p:sp>
      <p:sp>
        <p:nvSpPr>
          <p:cNvPr id="11" name="Shape 9"/>
          <p:cNvSpPr/>
          <p:nvPr/>
        </p:nvSpPr>
        <p:spPr>
          <a:xfrm>
            <a:off x="8371332" y="1810512"/>
            <a:ext cx="219456" cy="219456"/>
          </a:xfrm>
          <a:prstGeom prst="ellipse">
            <a:avLst/>
          </a:prstGeom>
          <a:solidFill>
            <a:srgbClr val="0F3D3E"/>
          </a:solidFill>
          <a:ln/>
        </p:spPr>
      </p:sp>
      <p:sp>
        <p:nvSpPr>
          <p:cNvPr id="12" name="Text 10"/>
          <p:cNvSpPr/>
          <p:nvPr/>
        </p:nvSpPr>
        <p:spPr>
          <a:xfrm>
            <a:off x="7566660" y="2148840"/>
            <a:ext cx="1828800" cy="640080"/>
          </a:xfrm>
          <a:prstGeom prst="rect">
            <a:avLst/>
          </a:prstGeom>
          <a:noFill/>
          <a:ln/>
        </p:spPr>
        <p:txBody>
          <a:bodyPr wrap="square" lIns="0" tIns="0" rIns="0" bIns="0" rtlCol="0" anchor="ctr"/>
          <a:lstStyle/>
          <a:p>
            <a:pPr algn="ctr" indent="0" marL="0">
              <a:buNone/>
            </a:pPr>
            <a:r>
              <a:rPr lang="en-US" sz="1150" dirty="0">
                <a:solidFill>
                  <a:srgbClr val="13262B"/>
                </a:solidFill>
                <a:latin typeface="Calibri" pitchFamily="34" charset="0"/>
                <a:ea typeface="Calibri" pitchFamily="34" charset="-122"/>
                <a:cs typeface="Calibri" pitchFamily="34" charset="-120"/>
              </a:rPr>
              <a:t>Funções quadráticas</a:t>
            </a:r>
            <a:endParaRPr lang="en-US" sz="1150" dirty="0"/>
          </a:p>
        </p:txBody>
      </p:sp>
      <p:sp>
        <p:nvSpPr>
          <p:cNvPr id="13" name="Shape 11"/>
          <p:cNvSpPr/>
          <p:nvPr/>
        </p:nvSpPr>
        <p:spPr>
          <a:xfrm>
            <a:off x="10863072" y="1810512"/>
            <a:ext cx="219456" cy="219456"/>
          </a:xfrm>
          <a:prstGeom prst="ellipse">
            <a:avLst/>
          </a:prstGeom>
          <a:solidFill>
            <a:srgbClr val="0F3D3E"/>
          </a:solidFill>
          <a:ln/>
        </p:spPr>
      </p:sp>
      <p:sp>
        <p:nvSpPr>
          <p:cNvPr id="14" name="Text 12"/>
          <p:cNvSpPr/>
          <p:nvPr/>
        </p:nvSpPr>
        <p:spPr>
          <a:xfrm>
            <a:off x="10058400" y="2148840"/>
            <a:ext cx="1828800" cy="640080"/>
          </a:xfrm>
          <a:prstGeom prst="rect">
            <a:avLst/>
          </a:prstGeom>
          <a:noFill/>
          <a:ln/>
        </p:spPr>
        <p:txBody>
          <a:bodyPr wrap="square" lIns="0" tIns="0" rIns="0" bIns="0" rtlCol="0" anchor="ctr"/>
          <a:lstStyle/>
          <a:p>
            <a:pPr algn="ctr" indent="0" marL="0">
              <a:buNone/>
            </a:pPr>
            <a:r>
              <a:rPr lang="en-US" sz="1150" dirty="0">
                <a:solidFill>
                  <a:srgbClr val="13262B"/>
                </a:solidFill>
                <a:latin typeface="Calibri" pitchFamily="34" charset="0"/>
                <a:ea typeface="Calibri" pitchFamily="34" charset="-122"/>
                <a:cs typeface="Calibri" pitchFamily="34" charset="-120"/>
              </a:rPr>
              <a:t>Probabilidade</a:t>
            </a:r>
            <a:endParaRPr lang="en-US" sz="1150" dirty="0"/>
          </a:p>
        </p:txBody>
      </p:sp>
      <p:sp>
        <p:nvSpPr>
          <p:cNvPr id="15" name="Shape 13"/>
          <p:cNvSpPr/>
          <p:nvPr/>
        </p:nvSpPr>
        <p:spPr>
          <a:xfrm>
            <a:off x="731520" y="2834640"/>
            <a:ext cx="5120640" cy="1691640"/>
          </a:xfrm>
          <a:prstGeom prst="roundRect">
            <a:avLst>
              <a:gd name="adj" fmla="val 4324"/>
            </a:avLst>
          </a:prstGeom>
          <a:solidFill>
            <a:srgbClr val="FBF0DC"/>
          </a:solidFill>
          <a:ln/>
          <a:effectLst>
            <a:outerShdw sx="100000" sy="100000" kx="0" ky="0" algn="bl" rotWithShape="0" blurRad="101600" dist="38100" dir="2700000">
              <a:srgbClr val="000000">
                <a:alpha val="12000"/>
              </a:srgbClr>
            </a:outerShdw>
          </a:effectLst>
        </p:spPr>
      </p:sp>
      <p:pic>
        <p:nvPicPr>
          <p:cNvPr id="16" name="Image 0" descr="preencoded.png">    </p:cNvPr>
          <p:cNvPicPr>
            <a:picLocks noChangeAspect="1"/>
          </p:cNvPicPr>
          <p:nvPr/>
        </p:nvPicPr>
        <p:blipFill>
          <a:blip r:embed="rId1"/>
          <a:stretch>
            <a:fillRect/>
          </a:stretch>
        </p:blipFill>
        <p:spPr>
          <a:xfrm>
            <a:off x="1005840" y="3108960"/>
            <a:ext cx="411480" cy="411480"/>
          </a:xfrm>
          <a:prstGeom prst="rect">
            <a:avLst/>
          </a:prstGeom>
        </p:spPr>
      </p:pic>
      <p:sp>
        <p:nvSpPr>
          <p:cNvPr id="17" name="Text 14"/>
          <p:cNvSpPr/>
          <p:nvPr/>
        </p:nvSpPr>
        <p:spPr>
          <a:xfrm>
            <a:off x="1554480" y="3063240"/>
            <a:ext cx="4114800" cy="365760"/>
          </a:xfrm>
          <a:prstGeom prst="rect">
            <a:avLst/>
          </a:prstGeom>
          <a:noFill/>
          <a:ln/>
        </p:spPr>
        <p:txBody>
          <a:bodyPr wrap="square" lIns="0" tIns="0" rIns="0" bIns="0" rtlCol="0" anchor="ctr"/>
          <a:lstStyle/>
          <a:p>
            <a:pPr indent="0" marL="0">
              <a:buNone/>
            </a:pPr>
            <a:r>
              <a:rPr lang="en-US" sz="1400" b="1" dirty="0">
                <a:solidFill>
                  <a:srgbClr val="13262B"/>
                </a:solidFill>
                <a:latin typeface="Calibri" pitchFamily="34" charset="0"/>
                <a:ea typeface="Calibri" pitchFamily="34" charset="-122"/>
                <a:cs typeface="Calibri" pitchFamily="34" charset="-120"/>
              </a:rPr>
              <a:t>Aplicação mecânica de fórmulas</a:t>
            </a:r>
            <a:endParaRPr lang="en-US" sz="1400" dirty="0"/>
          </a:p>
        </p:txBody>
      </p:sp>
      <p:sp>
        <p:nvSpPr>
          <p:cNvPr id="18" name="Text 15"/>
          <p:cNvSpPr/>
          <p:nvPr/>
        </p:nvSpPr>
        <p:spPr>
          <a:xfrm>
            <a:off x="1554480" y="3456432"/>
            <a:ext cx="4023360" cy="960120"/>
          </a:xfrm>
          <a:prstGeom prst="rect">
            <a:avLst/>
          </a:prstGeom>
          <a:noFill/>
          <a:ln/>
        </p:spPr>
        <p:txBody>
          <a:bodyPr wrap="square" lIns="0" tIns="0" rIns="0" bIns="0" rtlCol="0" anchor="ctr"/>
          <a:lstStyle/>
          <a:p>
            <a:pPr indent="0" marL="0">
              <a:lnSpc>
                <a:spcPct val="120000"/>
              </a:lnSpc>
              <a:buNone/>
            </a:pPr>
            <a:r>
              <a:rPr lang="en-US" sz="1200" dirty="0">
                <a:solidFill>
                  <a:srgbClr val="5B6E70"/>
                </a:solidFill>
                <a:latin typeface="Calibri" pitchFamily="34" charset="0"/>
                <a:ea typeface="Calibri" pitchFamily="34" charset="-122"/>
                <a:cs typeface="Calibri" pitchFamily="34" charset="-120"/>
              </a:rPr>
              <a:t>Muitos alunos aplicavam Bhaskara automaticamente, mesmo quando o problema pedia outra coisa — sinal de memorização sem compreensão.</a:t>
            </a:r>
            <a:endParaRPr lang="en-US" sz="1200" dirty="0"/>
          </a:p>
        </p:txBody>
      </p:sp>
      <p:sp>
        <p:nvSpPr>
          <p:cNvPr id="19" name="Shape 16"/>
          <p:cNvSpPr/>
          <p:nvPr/>
        </p:nvSpPr>
        <p:spPr>
          <a:xfrm>
            <a:off x="6126480" y="2834640"/>
            <a:ext cx="5303520" cy="1691640"/>
          </a:xfrm>
          <a:prstGeom prst="roundRect">
            <a:avLst>
              <a:gd name="adj" fmla="val 4324"/>
            </a:avLst>
          </a:prstGeom>
          <a:solidFill>
            <a:srgbClr val="F2F7F6"/>
          </a:solidFill>
          <a:ln/>
          <a:effectLst>
            <a:outerShdw sx="100000" sy="100000" kx="0" ky="0" algn="bl" rotWithShape="0" blurRad="101600" dist="38100" dir="2700000">
              <a:srgbClr val="000000">
                <a:alpha val="12000"/>
              </a:srgbClr>
            </a:outerShdw>
          </a:effectLst>
        </p:spPr>
      </p:sp>
      <p:pic>
        <p:nvPicPr>
          <p:cNvPr id="20" name="Image 1" descr="preencoded.png">    </p:cNvPr>
          <p:cNvPicPr>
            <a:picLocks noChangeAspect="1"/>
          </p:cNvPicPr>
          <p:nvPr/>
        </p:nvPicPr>
        <p:blipFill>
          <a:blip r:embed="rId2"/>
          <a:stretch>
            <a:fillRect/>
          </a:stretch>
        </p:blipFill>
        <p:spPr>
          <a:xfrm>
            <a:off x="6400800" y="3108960"/>
            <a:ext cx="411480" cy="411480"/>
          </a:xfrm>
          <a:prstGeom prst="rect">
            <a:avLst/>
          </a:prstGeom>
        </p:spPr>
      </p:pic>
      <p:sp>
        <p:nvSpPr>
          <p:cNvPr id="21" name="Text 17"/>
          <p:cNvSpPr/>
          <p:nvPr/>
        </p:nvSpPr>
        <p:spPr>
          <a:xfrm>
            <a:off x="6949440" y="3063240"/>
            <a:ext cx="4206240" cy="365760"/>
          </a:xfrm>
          <a:prstGeom prst="rect">
            <a:avLst/>
          </a:prstGeom>
          <a:noFill/>
          <a:ln/>
        </p:spPr>
        <p:txBody>
          <a:bodyPr wrap="square" lIns="0" tIns="0" rIns="0" bIns="0" rtlCol="0" anchor="ctr"/>
          <a:lstStyle/>
          <a:p>
            <a:pPr indent="0" marL="0">
              <a:buNone/>
            </a:pPr>
            <a:r>
              <a:rPr lang="en-US" sz="1400" b="1" dirty="0">
                <a:solidFill>
                  <a:srgbClr val="13262B"/>
                </a:solidFill>
                <a:latin typeface="Calibri" pitchFamily="34" charset="0"/>
                <a:ea typeface="Calibri" pitchFamily="34" charset="-122"/>
                <a:cs typeface="Calibri" pitchFamily="34" charset="-120"/>
              </a:rPr>
              <a:t>Contraste com turma regular</a:t>
            </a:r>
            <a:endParaRPr lang="en-US" sz="1400" dirty="0"/>
          </a:p>
        </p:txBody>
      </p:sp>
      <p:sp>
        <p:nvSpPr>
          <p:cNvPr id="22" name="Text 18"/>
          <p:cNvSpPr/>
          <p:nvPr/>
        </p:nvSpPr>
        <p:spPr>
          <a:xfrm>
            <a:off x="6949440" y="3456432"/>
            <a:ext cx="4206240" cy="960120"/>
          </a:xfrm>
          <a:prstGeom prst="rect">
            <a:avLst/>
          </a:prstGeom>
          <a:noFill/>
          <a:ln/>
        </p:spPr>
        <p:txBody>
          <a:bodyPr wrap="square" lIns="0" tIns="0" rIns="0" bIns="0" rtlCol="0" anchor="ctr"/>
          <a:lstStyle/>
          <a:p>
            <a:pPr indent="0" marL="0">
              <a:lnSpc>
                <a:spcPct val="120000"/>
              </a:lnSpc>
              <a:buNone/>
            </a:pPr>
            <a:r>
              <a:rPr lang="en-US" sz="1200" dirty="0">
                <a:solidFill>
                  <a:srgbClr val="5B6E70"/>
                </a:solidFill>
                <a:latin typeface="Calibri" pitchFamily="34" charset="0"/>
                <a:ea typeface="Calibri" pitchFamily="34" charset="-122"/>
                <a:cs typeface="Calibri" pitchFamily="34" charset="-120"/>
              </a:rPr>
              <a:t>Em uma turma regular de 2º ano (não de nivelamento), os alunos mostraram muito mais autonomia — evidência de que concentrar a defasagem em uma sala tem efeito visível.</a:t>
            </a:r>
            <a:endParaRPr lang="en-US" sz="1200" dirty="0"/>
          </a:p>
        </p:txBody>
      </p:sp>
      <p:sp>
        <p:nvSpPr>
          <p:cNvPr id="23" name="Shape 19"/>
          <p:cNvSpPr/>
          <p:nvPr/>
        </p:nvSpPr>
        <p:spPr>
          <a:xfrm>
            <a:off x="731520" y="4800600"/>
            <a:ext cx="10698480" cy="1234440"/>
          </a:xfrm>
          <a:prstGeom prst="roundRect">
            <a:avLst>
              <a:gd name="adj" fmla="val 5926"/>
            </a:avLst>
          </a:prstGeom>
          <a:solidFill>
            <a:srgbClr val="0F3D3E"/>
          </a:solidFill>
          <a:ln/>
        </p:spPr>
      </p:sp>
      <p:pic>
        <p:nvPicPr>
          <p:cNvPr id="24" name="Image 2" descr="preencoded.png">    </p:cNvPr>
          <p:cNvPicPr>
            <a:picLocks noChangeAspect="1"/>
          </p:cNvPicPr>
          <p:nvPr/>
        </p:nvPicPr>
        <p:blipFill>
          <a:blip r:embed="rId3"/>
          <a:stretch>
            <a:fillRect/>
          </a:stretch>
        </p:blipFill>
        <p:spPr>
          <a:xfrm>
            <a:off x="1005840" y="5184648"/>
            <a:ext cx="457200" cy="457200"/>
          </a:xfrm>
          <a:prstGeom prst="rect">
            <a:avLst/>
          </a:prstGeom>
        </p:spPr>
      </p:pic>
      <p:sp>
        <p:nvSpPr>
          <p:cNvPr id="25" name="Text 20"/>
          <p:cNvSpPr/>
          <p:nvPr/>
        </p:nvSpPr>
        <p:spPr>
          <a:xfrm>
            <a:off x="1645920" y="4800600"/>
            <a:ext cx="9601200" cy="1234440"/>
          </a:xfrm>
          <a:prstGeom prst="rect">
            <a:avLst/>
          </a:prstGeom>
          <a:noFill/>
          <a:ln/>
        </p:spPr>
        <p:txBody>
          <a:bodyPr wrap="square" lIns="0" tIns="0" rIns="0" bIns="0" rtlCol="0" anchor="ctr"/>
          <a:lstStyle/>
          <a:p>
            <a:pPr indent="0" marL="0">
              <a:lnSpc>
                <a:spcPct val="120000"/>
              </a:lnSpc>
              <a:buNone/>
            </a:pPr>
            <a:r>
              <a:rPr lang="en-US" sz="1400" dirty="0">
                <a:solidFill>
                  <a:srgbClr val="FFFFFF"/>
                </a:solidFill>
                <a:latin typeface="Calibri" pitchFamily="34" charset="0"/>
                <a:ea typeface="Calibri" pitchFamily="34" charset="-122"/>
                <a:cs typeface="Calibri" pitchFamily="34" charset="-120"/>
              </a:rPr>
              <a:t>Apesar das dificuldades persistentes em álgebra e aritmética básica, a autonomia dos alunos cresceu ao longo do semestre, especialmente quando o conteúdo era apresentado de forma gradual e concreta.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3657600" cy="365760"/>
          </a:xfrm>
          <a:prstGeom prst="rect">
            <a:avLst/>
          </a:prstGeom>
          <a:noFill/>
          <a:ln/>
        </p:spPr>
        <p:txBody>
          <a:bodyPr wrap="square" lIns="0" tIns="0" rIns="0" bIns="0" rtlCol="0" anchor="ctr"/>
          <a:lstStyle/>
          <a:p>
            <a:pPr indent="0" marL="0">
              <a:buNone/>
            </a:pPr>
            <a:r>
              <a:rPr lang="en-US" sz="1300" b="1" spc="200" kern="0" dirty="0">
                <a:solidFill>
                  <a:srgbClr val="5FA8A0"/>
                </a:solidFill>
                <a:latin typeface="Calibri" pitchFamily="34" charset="0"/>
                <a:ea typeface="Calibri" pitchFamily="34" charset="-122"/>
                <a:cs typeface="Calibri" pitchFamily="34" charset="-120"/>
              </a:rPr>
              <a:t>RESULTADOS — QUARTAS</a:t>
            </a:r>
            <a:endParaRPr lang="en-US" sz="1300" dirty="0"/>
          </a:p>
        </p:txBody>
      </p:sp>
      <p:sp>
        <p:nvSpPr>
          <p:cNvPr id="3" name="Text 1"/>
          <p:cNvSpPr/>
          <p:nvPr/>
        </p:nvSpPr>
        <p:spPr>
          <a:xfrm>
            <a:off x="548640" y="777240"/>
            <a:ext cx="10058400" cy="548640"/>
          </a:xfrm>
          <a:prstGeom prst="rect">
            <a:avLst/>
          </a:prstGeom>
          <a:noFill/>
          <a:ln/>
        </p:spPr>
        <p:txBody>
          <a:bodyPr wrap="square" lIns="0" tIns="0" rIns="0" bIns="0" rtlCol="0" anchor="ctr"/>
          <a:lstStyle/>
          <a:p>
            <a:pPr indent="0" marL="0">
              <a:buNone/>
            </a:pPr>
            <a:r>
              <a:rPr lang="en-US" sz="2800" b="1" dirty="0">
                <a:solidFill>
                  <a:srgbClr val="13262B"/>
                </a:solidFill>
                <a:latin typeface="Cambria" pitchFamily="34" charset="0"/>
                <a:ea typeface="Cambria" pitchFamily="34" charset="-122"/>
                <a:cs typeface="Cambria" pitchFamily="34" charset="-120"/>
              </a:rPr>
              <a:t>1º Ano: a base que ainda falta</a:t>
            </a:r>
            <a:endParaRPr lang="en-US" sz="2800" dirty="0"/>
          </a:p>
        </p:txBody>
      </p:sp>
      <p:sp>
        <p:nvSpPr>
          <p:cNvPr id="4" name="Shape 2"/>
          <p:cNvSpPr/>
          <p:nvPr/>
        </p:nvSpPr>
        <p:spPr>
          <a:xfrm>
            <a:off x="731520" y="1691640"/>
            <a:ext cx="5120640" cy="2286000"/>
          </a:xfrm>
          <a:prstGeom prst="roundRect">
            <a:avLst>
              <a:gd name="adj" fmla="val 3200"/>
            </a:avLst>
          </a:prstGeom>
          <a:solidFill>
            <a:srgbClr val="F2F7F6"/>
          </a:solidFill>
          <a:ln/>
          <a:effectLst>
            <a:outerShdw sx="100000" sy="100000" kx="0" ky="0" algn="bl" rotWithShape="0" blurRad="101600" dist="38100" dir="2700000">
              <a:srgbClr val="000000">
                <a:alpha val="12000"/>
              </a:srgbClr>
            </a:outerShdw>
          </a:effectLst>
        </p:spPr>
      </p:sp>
      <p:sp>
        <p:nvSpPr>
          <p:cNvPr id="5" name="Text 3"/>
          <p:cNvSpPr/>
          <p:nvPr/>
        </p:nvSpPr>
        <p:spPr>
          <a:xfrm>
            <a:off x="1097280" y="2011680"/>
            <a:ext cx="4389120" cy="640080"/>
          </a:xfrm>
          <a:prstGeom prst="rect">
            <a:avLst/>
          </a:prstGeom>
          <a:noFill/>
          <a:ln/>
        </p:spPr>
        <p:txBody>
          <a:bodyPr wrap="square" lIns="0" tIns="0" rIns="0" bIns="0" rtlCol="0" anchor="ctr"/>
          <a:lstStyle/>
          <a:p>
            <a:pPr indent="0" marL="0">
              <a:buNone/>
            </a:pPr>
            <a:r>
              <a:rPr lang="en-US" sz="1700" b="1" dirty="0">
                <a:solidFill>
                  <a:srgbClr val="13262B"/>
                </a:solidFill>
                <a:latin typeface="Cambria" pitchFamily="34" charset="0"/>
                <a:ea typeface="Cambria" pitchFamily="34" charset="-122"/>
                <a:cs typeface="Cambria" pitchFamily="34" charset="-120"/>
              </a:rPr>
              <a:t>Tabuada como obstáculo persistente</a:t>
            </a:r>
            <a:endParaRPr lang="en-US" sz="1700" dirty="0"/>
          </a:p>
        </p:txBody>
      </p:sp>
      <p:sp>
        <p:nvSpPr>
          <p:cNvPr id="6" name="Text 4"/>
          <p:cNvSpPr/>
          <p:nvPr/>
        </p:nvSpPr>
        <p:spPr>
          <a:xfrm>
            <a:off x="1097280" y="2651760"/>
            <a:ext cx="4389120" cy="1188720"/>
          </a:xfrm>
          <a:prstGeom prst="rect">
            <a:avLst/>
          </a:prstGeom>
          <a:noFill/>
          <a:ln/>
        </p:spPr>
        <p:txBody>
          <a:bodyPr wrap="square" lIns="0" tIns="0" rIns="0" bIns="0" rtlCol="0" anchor="ctr"/>
          <a:lstStyle/>
          <a:p>
            <a:pPr indent="0" marL="0">
              <a:lnSpc>
                <a:spcPct val="130000"/>
              </a:lnSpc>
              <a:buNone/>
            </a:pPr>
            <a:r>
              <a:rPr lang="en-US" sz="1350" dirty="0">
                <a:solidFill>
                  <a:srgbClr val="5B6E70"/>
                </a:solidFill>
                <a:latin typeface="Calibri" pitchFamily="34" charset="0"/>
                <a:ea typeface="Calibri" pitchFamily="34" charset="-122"/>
                <a:cs typeface="Calibri" pitchFamily="34" charset="-120"/>
              </a:rPr>
              <a:t>Mesmo em maio, alunos recorriam a “colinha” para multiplicações simples e esqueciam de adicionar o zero ao multiplicar dezenas.</a:t>
            </a:r>
            <a:endParaRPr lang="en-US" sz="1350" dirty="0"/>
          </a:p>
        </p:txBody>
      </p:sp>
      <p:sp>
        <p:nvSpPr>
          <p:cNvPr id="7" name="Shape 5"/>
          <p:cNvSpPr/>
          <p:nvPr/>
        </p:nvSpPr>
        <p:spPr>
          <a:xfrm>
            <a:off x="6309360" y="1691640"/>
            <a:ext cx="5120640" cy="2286000"/>
          </a:xfrm>
          <a:prstGeom prst="roundRect">
            <a:avLst>
              <a:gd name="adj" fmla="val 3200"/>
            </a:avLst>
          </a:prstGeom>
          <a:solidFill>
            <a:srgbClr val="0F3D3E"/>
          </a:solidFill>
          <a:ln/>
          <a:effectLst>
            <a:outerShdw sx="100000" sy="100000" kx="0" ky="0" algn="bl" rotWithShape="0" blurRad="101600" dist="38100" dir="2700000">
              <a:srgbClr val="000000">
                <a:alpha val="12000"/>
              </a:srgbClr>
            </a:outerShdw>
          </a:effectLst>
        </p:spPr>
      </p:sp>
      <p:sp>
        <p:nvSpPr>
          <p:cNvPr id="8" name="Text 6"/>
          <p:cNvSpPr/>
          <p:nvPr/>
        </p:nvSpPr>
        <p:spPr>
          <a:xfrm>
            <a:off x="6675120" y="2011680"/>
            <a:ext cx="4389120" cy="6400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Engajamento como maior desafio</a:t>
            </a:r>
            <a:endParaRPr lang="en-US" sz="1700" dirty="0"/>
          </a:p>
        </p:txBody>
      </p:sp>
      <p:sp>
        <p:nvSpPr>
          <p:cNvPr id="9" name="Text 7"/>
          <p:cNvSpPr/>
          <p:nvPr/>
        </p:nvSpPr>
        <p:spPr>
          <a:xfrm>
            <a:off x="6675120" y="2651760"/>
            <a:ext cx="4389120" cy="1188720"/>
          </a:xfrm>
          <a:prstGeom prst="rect">
            <a:avLst/>
          </a:prstGeom>
          <a:noFill/>
          <a:ln/>
        </p:spPr>
        <p:txBody>
          <a:bodyPr wrap="square" lIns="0" tIns="0" rIns="0" bIns="0" rtlCol="0" anchor="ctr"/>
          <a:lstStyle/>
          <a:p>
            <a:pPr indent="0" marL="0">
              <a:lnSpc>
                <a:spcPct val="130000"/>
              </a:lnSpc>
              <a:buNone/>
            </a:pPr>
            <a:r>
              <a:rPr lang="en-US" sz="1350" dirty="0">
                <a:solidFill>
                  <a:srgbClr val="D8E8E6"/>
                </a:solidFill>
                <a:latin typeface="Calibri" pitchFamily="34" charset="0"/>
                <a:ea typeface="Calibri" pitchFamily="34" charset="-122"/>
                <a:cs typeface="Calibri" pitchFamily="34" charset="-120"/>
              </a:rPr>
              <a:t>Em diversas aulas, apenas metade da sala tentava resolver os exercícios; o restante priorizava o celular ou conversas paralelas.</a:t>
            </a:r>
            <a:endParaRPr lang="en-US" sz="1350" dirty="0"/>
          </a:p>
        </p:txBody>
      </p:sp>
      <p:sp>
        <p:nvSpPr>
          <p:cNvPr id="10" name="Shape 8"/>
          <p:cNvSpPr/>
          <p:nvPr/>
        </p:nvSpPr>
        <p:spPr>
          <a:xfrm>
            <a:off x="731520" y="4343400"/>
            <a:ext cx="10698480" cy="1554480"/>
          </a:xfrm>
          <a:prstGeom prst="roundRect">
            <a:avLst>
              <a:gd name="adj" fmla="val 4706"/>
            </a:avLst>
          </a:prstGeom>
          <a:solidFill>
            <a:srgbClr val="EAF4F2"/>
          </a:solidFill>
          <a:ln/>
          <a:effectLst>
            <a:outerShdw sx="100000" sy="100000" kx="0" ky="0" algn="bl" rotWithShape="0" blurRad="101600" dist="38100" dir="2700000">
              <a:srgbClr val="000000">
                <a:alpha val="12000"/>
              </a:srgbClr>
            </a:outerShdw>
          </a:effectLst>
        </p:spPr>
      </p:sp>
      <p:pic>
        <p:nvPicPr>
          <p:cNvPr id="11" name="Image 0" descr="preencoded.png">    </p:cNvPr>
          <p:cNvPicPr>
            <a:picLocks noChangeAspect="1"/>
          </p:cNvPicPr>
          <p:nvPr/>
        </p:nvPicPr>
        <p:blipFill>
          <a:blip r:embed="rId1"/>
          <a:stretch>
            <a:fillRect/>
          </a:stretch>
        </p:blipFill>
        <p:spPr>
          <a:xfrm>
            <a:off x="1005840" y="4709160"/>
            <a:ext cx="457200" cy="457200"/>
          </a:xfrm>
          <a:prstGeom prst="rect">
            <a:avLst/>
          </a:prstGeom>
        </p:spPr>
      </p:pic>
      <p:sp>
        <p:nvSpPr>
          <p:cNvPr id="12" name="Text 9"/>
          <p:cNvSpPr/>
          <p:nvPr/>
        </p:nvSpPr>
        <p:spPr>
          <a:xfrm>
            <a:off x="1645920" y="4572000"/>
            <a:ext cx="8229600" cy="365760"/>
          </a:xfrm>
          <a:prstGeom prst="rect">
            <a:avLst/>
          </a:prstGeom>
          <a:noFill/>
          <a:ln/>
        </p:spPr>
        <p:txBody>
          <a:bodyPr wrap="square" lIns="0" tIns="0" rIns="0" bIns="0" rtlCol="0" anchor="ctr"/>
          <a:lstStyle/>
          <a:p>
            <a:pPr indent="0" marL="0">
              <a:buNone/>
            </a:pPr>
            <a:r>
              <a:rPr lang="en-US" sz="1500" b="1" dirty="0">
                <a:solidFill>
                  <a:srgbClr val="0F3D3E"/>
                </a:solidFill>
                <a:latin typeface="Calibri" pitchFamily="34" charset="0"/>
                <a:ea typeface="Calibri" pitchFamily="34" charset="-122"/>
                <a:cs typeface="Calibri" pitchFamily="34" charset="-120"/>
              </a:rPr>
              <a:t>Pontos positivos</a:t>
            </a:r>
            <a:endParaRPr lang="en-US" sz="1500" dirty="0"/>
          </a:p>
        </p:txBody>
      </p:sp>
      <p:sp>
        <p:nvSpPr>
          <p:cNvPr id="13" name="Text 10"/>
          <p:cNvSpPr/>
          <p:nvPr/>
        </p:nvSpPr>
        <p:spPr>
          <a:xfrm>
            <a:off x="1645920" y="4937760"/>
            <a:ext cx="9509760" cy="868680"/>
          </a:xfrm>
          <a:prstGeom prst="rect">
            <a:avLst/>
          </a:prstGeom>
          <a:noFill/>
          <a:ln/>
        </p:spPr>
        <p:txBody>
          <a:bodyPr wrap="square" lIns="0" tIns="0" rIns="0" bIns="0" rtlCol="0" anchor="ctr"/>
          <a:lstStyle/>
          <a:p>
            <a:pPr indent="0" marL="0">
              <a:lnSpc>
                <a:spcPct val="120000"/>
              </a:lnSpc>
              <a:buNone/>
            </a:pPr>
            <a:r>
              <a:rPr lang="en-US" sz="1300" dirty="0">
                <a:solidFill>
                  <a:srgbClr val="13262B"/>
                </a:solidFill>
                <a:latin typeface="Calibri" pitchFamily="34" charset="0"/>
                <a:ea typeface="Calibri" pitchFamily="34" charset="-122"/>
                <a:cs typeface="Calibri" pitchFamily="34" charset="-120"/>
              </a:rPr>
              <a:t>Técnicas visuais e diretas, como a regra da borboleta para soma de frações, foram assimiladas com facilidade. A turma do 3º ano acompanhada pelo Prof. Francisco, às quartas, mostrou maior engajamento — reforçando a importância de intervir precocemente nas defasagens.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3D3E"/>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1C6E6F">
              <a:alpha val="35000"/>
            </a:srgbClr>
          </a:solidFill>
          <a:ln/>
        </p:spPr>
      </p:sp>
      <p:sp>
        <p:nvSpPr>
          <p:cNvPr id="3" name="Text 1"/>
          <p:cNvSpPr/>
          <p:nvPr/>
        </p:nvSpPr>
        <p:spPr>
          <a:xfrm>
            <a:off x="548640" y="457200"/>
            <a:ext cx="3657600" cy="365760"/>
          </a:xfrm>
          <a:prstGeom prst="rect">
            <a:avLst/>
          </a:prstGeom>
          <a:noFill/>
          <a:ln/>
        </p:spPr>
        <p:txBody>
          <a:bodyPr wrap="square" lIns="0" tIns="0" rIns="0" bIns="0" rtlCol="0" anchor="ctr"/>
          <a:lstStyle/>
          <a:p>
            <a:pPr indent="0" marL="0">
              <a:buNone/>
            </a:pPr>
            <a:r>
              <a:rPr lang="en-US" sz="1300" b="1" spc="200" kern="0" dirty="0">
                <a:solidFill>
                  <a:srgbClr val="5FA8A0"/>
                </a:solidFill>
                <a:latin typeface="Calibri" pitchFamily="34" charset="0"/>
                <a:ea typeface="Calibri" pitchFamily="34" charset="-122"/>
                <a:cs typeface="Calibri" pitchFamily="34" charset="-120"/>
              </a:rPr>
              <a:t>REFLEXÃO GERAL</a:t>
            </a:r>
            <a:endParaRPr lang="en-US" sz="1300" dirty="0"/>
          </a:p>
        </p:txBody>
      </p:sp>
      <p:sp>
        <p:nvSpPr>
          <p:cNvPr id="4" name="Text 2"/>
          <p:cNvSpPr/>
          <p:nvPr/>
        </p:nvSpPr>
        <p:spPr>
          <a:xfrm>
            <a:off x="548640" y="777240"/>
            <a:ext cx="91440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 papel do monitor</a:t>
            </a:r>
            <a:endParaRPr lang="en-US" sz="3000" dirty="0"/>
          </a:p>
        </p:txBody>
      </p:sp>
      <p:sp>
        <p:nvSpPr>
          <p:cNvPr id="5" name="Text 3"/>
          <p:cNvSpPr/>
          <p:nvPr/>
        </p:nvSpPr>
        <p:spPr>
          <a:xfrm>
            <a:off x="548640" y="1554480"/>
            <a:ext cx="10789920" cy="914400"/>
          </a:xfrm>
          <a:prstGeom prst="rect">
            <a:avLst/>
          </a:prstGeom>
          <a:noFill/>
          <a:ln/>
        </p:spPr>
        <p:txBody>
          <a:bodyPr wrap="square" lIns="0" tIns="0" rIns="0" bIns="0" rtlCol="0" anchor="ctr"/>
          <a:lstStyle/>
          <a:p>
            <a:pPr indent="0" marL="0">
              <a:lnSpc>
                <a:spcPct val="130000"/>
              </a:lnSpc>
              <a:buNone/>
            </a:pPr>
            <a:r>
              <a:rPr lang="en-US" sz="1500" dirty="0">
                <a:solidFill>
                  <a:srgbClr val="D8E8E6"/>
                </a:solidFill>
                <a:latin typeface="Calibri" pitchFamily="34" charset="0"/>
                <a:ea typeface="Calibri" pitchFamily="34" charset="-122"/>
                <a:cs typeface="Calibri" pitchFamily="34" charset="-120"/>
              </a:rPr>
              <a:t>As dificuldades dos alunos não se restringem ao conteúdo matemático: envolvem leitura e interpretação de enunciados, baixo engajamento e ausência de hábitos de estudo — fatores estruturais que limitam o impacto de intervenções pontuais.</a:t>
            </a:r>
            <a:endParaRPr lang="en-US" sz="1500" dirty="0"/>
          </a:p>
        </p:txBody>
      </p:sp>
      <p:sp>
        <p:nvSpPr>
          <p:cNvPr id="6" name="Shape 4"/>
          <p:cNvSpPr/>
          <p:nvPr/>
        </p:nvSpPr>
        <p:spPr>
          <a:xfrm>
            <a:off x="731520" y="2743200"/>
            <a:ext cx="10241280" cy="3108960"/>
          </a:xfrm>
          <a:prstGeom prst="roundRect">
            <a:avLst>
              <a:gd name="adj" fmla="val 2941"/>
            </a:avLst>
          </a:prstGeom>
          <a:solidFill>
            <a:srgbClr val="FFFFFF"/>
          </a:solidFill>
          <a:ln/>
          <a:effectLst>
            <a:outerShdw sx="100000" sy="100000" kx="0" ky="0" algn="bl" rotWithShape="0" blurRad="101600" dist="38100" dir="2700000">
              <a:srgbClr val="000000">
                <a:alpha val="12000"/>
              </a:srgbClr>
            </a:outerShdw>
          </a:effectLst>
        </p:spPr>
      </p:sp>
      <p:pic>
        <p:nvPicPr>
          <p:cNvPr id="7" name="Image 0" descr="preencoded.png">    </p:cNvPr>
          <p:cNvPicPr>
            <a:picLocks noChangeAspect="1"/>
          </p:cNvPicPr>
          <p:nvPr/>
        </p:nvPicPr>
        <p:blipFill>
          <a:blip r:embed="rId1"/>
          <a:stretch>
            <a:fillRect/>
          </a:stretch>
        </p:blipFill>
        <p:spPr>
          <a:xfrm>
            <a:off x="1188720" y="3154680"/>
            <a:ext cx="548640" cy="548640"/>
          </a:xfrm>
          <a:prstGeom prst="rect">
            <a:avLst/>
          </a:prstGeom>
        </p:spPr>
      </p:pic>
      <p:sp>
        <p:nvSpPr>
          <p:cNvPr id="8" name="Text 5"/>
          <p:cNvSpPr/>
          <p:nvPr/>
        </p:nvSpPr>
        <p:spPr>
          <a:xfrm>
            <a:off x="1188720" y="3886200"/>
            <a:ext cx="9326880" cy="1371600"/>
          </a:xfrm>
          <a:prstGeom prst="rect">
            <a:avLst/>
          </a:prstGeom>
          <a:noFill/>
          <a:ln/>
        </p:spPr>
        <p:txBody>
          <a:bodyPr wrap="square" lIns="0" tIns="0" rIns="0" bIns="0" rtlCol="0" anchor="ctr"/>
          <a:lstStyle/>
          <a:p>
            <a:pPr indent="0" marL="0">
              <a:lnSpc>
                <a:spcPct val="135000"/>
              </a:lnSpc>
              <a:buNone/>
            </a:pPr>
            <a:r>
              <a:rPr lang="en-US" sz="1700" i="1" dirty="0">
                <a:solidFill>
                  <a:srgbClr val="13262B"/>
                </a:solidFill>
                <a:latin typeface="Cambria" pitchFamily="34" charset="0"/>
                <a:ea typeface="Cambria" pitchFamily="34" charset="-122"/>
                <a:cs typeface="Cambria" pitchFamily="34" charset="-120"/>
              </a:rPr>
              <a:t>Diversos alunos agradeceram pessoalmente pela monitoria, relatando preferir a forma como os conteúdos eram explicados e se sentir mais confortáveis recorrendo a um monitor do que ao professor — possivelmente por perceberem essa figura como mais acessível e menos intimidadora.</a:t>
            </a:r>
            <a:endParaRPr lang="en-US" sz="1700" dirty="0"/>
          </a:p>
        </p:txBody>
      </p:sp>
      <p:sp>
        <p:nvSpPr>
          <p:cNvPr id="9" name="Text 6"/>
          <p:cNvSpPr/>
          <p:nvPr/>
        </p:nvSpPr>
        <p:spPr>
          <a:xfrm>
            <a:off x="1188720" y="5303520"/>
            <a:ext cx="9326880" cy="365760"/>
          </a:xfrm>
          <a:prstGeom prst="rect">
            <a:avLst/>
          </a:prstGeom>
          <a:noFill/>
          <a:ln/>
        </p:spPr>
        <p:txBody>
          <a:bodyPr wrap="square" lIns="0" tIns="0" rIns="0" bIns="0" rtlCol="0" anchor="ctr"/>
          <a:lstStyle/>
          <a:p>
            <a:pPr indent="0" marL="0">
              <a:buNone/>
            </a:pPr>
            <a:r>
              <a:rPr lang="en-US" sz="1200" dirty="0">
                <a:solidFill>
                  <a:srgbClr val="5B6E70"/>
                </a:solidFill>
                <a:latin typeface="Calibri" pitchFamily="34" charset="0"/>
                <a:ea typeface="Calibri" pitchFamily="34" charset="-122"/>
                <a:cs typeface="Calibri" pitchFamily="34" charset="-120"/>
              </a:rPr>
              <a:t>— Relatos espontâneos de alunos ao longo do semestre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3657600" cy="365760"/>
          </a:xfrm>
          <a:prstGeom prst="rect">
            <a:avLst/>
          </a:prstGeom>
          <a:noFill/>
          <a:ln/>
        </p:spPr>
        <p:txBody>
          <a:bodyPr wrap="square" lIns="0" tIns="0" rIns="0" bIns="0" rtlCol="0" anchor="ctr"/>
          <a:lstStyle/>
          <a:p>
            <a:pPr indent="0" marL="0">
              <a:buNone/>
            </a:pPr>
            <a:r>
              <a:rPr lang="en-US" sz="1300" b="1" spc="200" kern="0" dirty="0">
                <a:solidFill>
                  <a:srgbClr val="5FA8A0"/>
                </a:solidFill>
                <a:latin typeface="Calibri" pitchFamily="34" charset="0"/>
                <a:ea typeface="Calibri" pitchFamily="34" charset="-122"/>
                <a:cs typeface="Calibri" pitchFamily="34" charset="-120"/>
              </a:rPr>
              <a:t>CONCLUSÃO</a:t>
            </a:r>
            <a:endParaRPr lang="en-US" sz="1300" dirty="0"/>
          </a:p>
        </p:txBody>
      </p:sp>
      <p:sp>
        <p:nvSpPr>
          <p:cNvPr id="3" name="Text 1"/>
          <p:cNvSpPr/>
          <p:nvPr/>
        </p:nvSpPr>
        <p:spPr>
          <a:xfrm>
            <a:off x="548640" y="777240"/>
            <a:ext cx="10789920" cy="640080"/>
          </a:xfrm>
          <a:prstGeom prst="rect">
            <a:avLst/>
          </a:prstGeom>
          <a:noFill/>
          <a:ln/>
        </p:spPr>
        <p:txBody>
          <a:bodyPr wrap="square" lIns="0" tIns="0" rIns="0" bIns="0" rtlCol="0" anchor="ctr"/>
          <a:lstStyle/>
          <a:p>
            <a:pPr indent="0" marL="0">
              <a:buNone/>
            </a:pPr>
            <a:r>
              <a:rPr lang="en-US" sz="2600" b="1" dirty="0">
                <a:solidFill>
                  <a:srgbClr val="13262B"/>
                </a:solidFill>
                <a:latin typeface="Cambria" pitchFamily="34" charset="0"/>
                <a:ea typeface="Cambria" pitchFamily="34" charset="-122"/>
                <a:cs typeface="Cambria" pitchFamily="34" charset="-120"/>
              </a:rPr>
              <a:t>Impacto possível, mesmo dentro de limites estruturais</a:t>
            </a:r>
            <a:endParaRPr lang="en-US" sz="2600" dirty="0"/>
          </a:p>
        </p:txBody>
      </p:sp>
      <p:sp>
        <p:nvSpPr>
          <p:cNvPr id="4" name="Text 2"/>
          <p:cNvSpPr/>
          <p:nvPr/>
        </p:nvSpPr>
        <p:spPr>
          <a:xfrm>
            <a:off x="548640" y="1554480"/>
            <a:ext cx="10789920" cy="1005840"/>
          </a:xfrm>
          <a:prstGeom prst="rect">
            <a:avLst/>
          </a:prstGeom>
          <a:noFill/>
          <a:ln/>
        </p:spPr>
        <p:txBody>
          <a:bodyPr wrap="square" lIns="0" tIns="0" rIns="0" bIns="0" rtlCol="0" anchor="ctr"/>
          <a:lstStyle/>
          <a:p>
            <a:pPr indent="0" marL="0">
              <a:lnSpc>
                <a:spcPct val="130000"/>
              </a:lnSpc>
              <a:buNone/>
            </a:pPr>
            <a:r>
              <a:rPr lang="en-US" sz="1500" dirty="0">
                <a:solidFill>
                  <a:srgbClr val="5B6E70"/>
                </a:solidFill>
                <a:latin typeface="Calibri" pitchFamily="34" charset="0"/>
                <a:ea typeface="Calibri" pitchFamily="34" charset="-122"/>
                <a:cs typeface="Calibri" pitchFamily="34" charset="-120"/>
              </a:rPr>
              <a:t>Alunos que receberam atenção individualizada demonstraram progressos mensuráveis, ainda que graduais. Competências matemáticas não se consolidam isoladamente: dependem de hábitos de leitura, engajamento com a escola e confiança do aluno em sua própria capacidade.</a:t>
            </a:r>
            <a:endParaRPr lang="en-US" sz="1500" dirty="0"/>
          </a:p>
        </p:txBody>
      </p:sp>
      <p:sp>
        <p:nvSpPr>
          <p:cNvPr id="5" name="Text 3"/>
          <p:cNvSpPr/>
          <p:nvPr/>
        </p:nvSpPr>
        <p:spPr>
          <a:xfrm>
            <a:off x="548640" y="2697480"/>
            <a:ext cx="5486400" cy="365760"/>
          </a:xfrm>
          <a:prstGeom prst="rect">
            <a:avLst/>
          </a:prstGeom>
          <a:noFill/>
          <a:ln/>
        </p:spPr>
        <p:txBody>
          <a:bodyPr wrap="square" lIns="0" tIns="0" rIns="0" bIns="0" rtlCol="0" anchor="ctr"/>
          <a:lstStyle/>
          <a:p>
            <a:pPr indent="0" marL="0">
              <a:buNone/>
            </a:pPr>
            <a:r>
              <a:rPr lang="en-US" sz="1300" b="1" spc="200" kern="0" dirty="0">
                <a:solidFill>
                  <a:srgbClr val="5FA8A0"/>
                </a:solidFill>
                <a:latin typeface="Calibri" pitchFamily="34" charset="0"/>
                <a:ea typeface="Calibri" pitchFamily="34" charset="-122"/>
                <a:cs typeface="Calibri" pitchFamily="34" charset="-120"/>
              </a:rPr>
              <a:t>PRÓXIMOS PASSOS</a:t>
            </a:r>
            <a:endParaRPr lang="en-US" sz="1300" dirty="0"/>
          </a:p>
        </p:txBody>
      </p:sp>
      <p:sp>
        <p:nvSpPr>
          <p:cNvPr id="6" name="Shape 4"/>
          <p:cNvSpPr/>
          <p:nvPr/>
        </p:nvSpPr>
        <p:spPr>
          <a:xfrm>
            <a:off x="731520" y="3154680"/>
            <a:ext cx="5120640" cy="1920240"/>
          </a:xfrm>
          <a:prstGeom prst="roundRect">
            <a:avLst>
              <a:gd name="adj" fmla="val 3810"/>
            </a:avLst>
          </a:prstGeom>
          <a:solidFill>
            <a:srgbClr val="F2F7F6"/>
          </a:solidFill>
          <a:ln/>
          <a:effectLst>
            <a:outerShdw sx="100000" sy="100000" kx="0" ky="0" algn="bl" rotWithShape="0" blurRad="101600" dist="38100" dir="2700000">
              <a:srgbClr val="000000">
                <a:alpha val="12000"/>
              </a:srgbClr>
            </a:outerShdw>
          </a:effectLst>
        </p:spPr>
      </p:sp>
      <p:sp>
        <p:nvSpPr>
          <p:cNvPr id="7" name="Shape 5"/>
          <p:cNvSpPr/>
          <p:nvPr/>
        </p:nvSpPr>
        <p:spPr>
          <a:xfrm>
            <a:off x="1051560" y="3474720"/>
            <a:ext cx="502920" cy="502920"/>
          </a:xfrm>
          <a:prstGeom prst="ellipse">
            <a:avLst/>
          </a:prstGeom>
          <a:solidFill>
            <a:srgbClr val="0F3D3E"/>
          </a:solidFill>
          <a:ln/>
        </p:spPr>
      </p:sp>
      <p:pic>
        <p:nvPicPr>
          <p:cNvPr id="8" name="Image 0" descr="preencoded.png">    </p:cNvPr>
          <p:cNvPicPr>
            <a:picLocks noChangeAspect="1"/>
          </p:cNvPicPr>
          <p:nvPr/>
        </p:nvPicPr>
        <p:blipFill>
          <a:blip r:embed="rId1"/>
          <a:stretch>
            <a:fillRect/>
          </a:stretch>
        </p:blipFill>
        <p:spPr>
          <a:xfrm>
            <a:off x="1179576" y="3602736"/>
            <a:ext cx="246888" cy="246888"/>
          </a:xfrm>
          <a:prstGeom prst="rect">
            <a:avLst/>
          </a:prstGeom>
        </p:spPr>
      </p:pic>
      <p:sp>
        <p:nvSpPr>
          <p:cNvPr id="9" name="Text 6"/>
          <p:cNvSpPr/>
          <p:nvPr/>
        </p:nvSpPr>
        <p:spPr>
          <a:xfrm>
            <a:off x="1691640" y="3447288"/>
            <a:ext cx="3840480" cy="411480"/>
          </a:xfrm>
          <a:prstGeom prst="rect">
            <a:avLst/>
          </a:prstGeom>
          <a:noFill/>
          <a:ln/>
        </p:spPr>
        <p:txBody>
          <a:bodyPr wrap="square" lIns="0" tIns="0" rIns="0" bIns="0" rtlCol="0" anchor="ctr"/>
          <a:lstStyle/>
          <a:p>
            <a:pPr indent="0" marL="0">
              <a:buNone/>
            </a:pPr>
            <a:r>
              <a:rPr lang="en-US" sz="1600" b="1" dirty="0">
                <a:solidFill>
                  <a:srgbClr val="0F3D3E"/>
                </a:solidFill>
                <a:latin typeface="Calibri" pitchFamily="34" charset="0"/>
                <a:ea typeface="Calibri" pitchFamily="34" charset="-122"/>
                <a:cs typeface="Calibri" pitchFamily="34" charset="-120"/>
              </a:rPr>
              <a:t>1º Ano</a:t>
            </a:r>
            <a:endParaRPr lang="en-US" sz="1600" dirty="0"/>
          </a:p>
        </p:txBody>
      </p:sp>
      <p:sp>
        <p:nvSpPr>
          <p:cNvPr id="10" name="Text 7"/>
          <p:cNvSpPr/>
          <p:nvPr/>
        </p:nvSpPr>
        <p:spPr>
          <a:xfrm>
            <a:off x="1051560" y="4069080"/>
            <a:ext cx="4480560" cy="914400"/>
          </a:xfrm>
          <a:prstGeom prst="rect">
            <a:avLst/>
          </a:prstGeom>
          <a:noFill/>
          <a:ln/>
        </p:spPr>
        <p:txBody>
          <a:bodyPr wrap="square" lIns="0" tIns="0" rIns="0" bIns="0" rtlCol="0" anchor="ctr"/>
          <a:lstStyle/>
          <a:p>
            <a:pPr indent="0" marL="0">
              <a:lnSpc>
                <a:spcPct val="125000"/>
              </a:lnSpc>
              <a:buNone/>
            </a:pPr>
            <a:r>
              <a:rPr lang="en-US" sz="1300" dirty="0">
                <a:solidFill>
                  <a:srgbClr val="5B6E70"/>
                </a:solidFill>
                <a:latin typeface="Calibri" pitchFamily="34" charset="0"/>
                <a:ea typeface="Calibri" pitchFamily="34" charset="-122"/>
                <a:cs typeface="Calibri" pitchFamily="34" charset="-120"/>
              </a:rPr>
              <a:t>Estruturar intervenções mais sistemáticas para consolidação da tabuada e da aritmética básica.</a:t>
            </a:r>
            <a:endParaRPr lang="en-US" sz="1300" dirty="0"/>
          </a:p>
        </p:txBody>
      </p:sp>
      <p:sp>
        <p:nvSpPr>
          <p:cNvPr id="11" name="Shape 8"/>
          <p:cNvSpPr/>
          <p:nvPr/>
        </p:nvSpPr>
        <p:spPr>
          <a:xfrm>
            <a:off x="6309360" y="3154680"/>
            <a:ext cx="5120640" cy="1920240"/>
          </a:xfrm>
          <a:prstGeom prst="roundRect">
            <a:avLst>
              <a:gd name="adj" fmla="val 3810"/>
            </a:avLst>
          </a:prstGeom>
          <a:solidFill>
            <a:srgbClr val="F2F7F6"/>
          </a:solidFill>
          <a:ln/>
          <a:effectLst>
            <a:outerShdw sx="100000" sy="100000" kx="0" ky="0" algn="bl" rotWithShape="0" blurRad="101600" dist="38100" dir="2700000">
              <a:srgbClr val="000000">
                <a:alpha val="12000"/>
              </a:srgbClr>
            </a:outerShdw>
          </a:effectLst>
        </p:spPr>
      </p:sp>
      <p:sp>
        <p:nvSpPr>
          <p:cNvPr id="12" name="Shape 9"/>
          <p:cNvSpPr/>
          <p:nvPr/>
        </p:nvSpPr>
        <p:spPr>
          <a:xfrm>
            <a:off x="6629400" y="3474720"/>
            <a:ext cx="502920" cy="502920"/>
          </a:xfrm>
          <a:prstGeom prst="ellipse">
            <a:avLst/>
          </a:prstGeom>
          <a:solidFill>
            <a:srgbClr val="0F3D3E"/>
          </a:solidFill>
          <a:ln/>
        </p:spPr>
      </p:sp>
      <p:pic>
        <p:nvPicPr>
          <p:cNvPr id="13" name="Image 1" descr="preencoded.png">    </p:cNvPr>
          <p:cNvPicPr>
            <a:picLocks noChangeAspect="1"/>
          </p:cNvPicPr>
          <p:nvPr/>
        </p:nvPicPr>
        <p:blipFill>
          <a:blip r:embed="rId2"/>
          <a:stretch>
            <a:fillRect/>
          </a:stretch>
        </p:blipFill>
        <p:spPr>
          <a:xfrm>
            <a:off x="6757416" y="3602736"/>
            <a:ext cx="246888" cy="246888"/>
          </a:xfrm>
          <a:prstGeom prst="rect">
            <a:avLst/>
          </a:prstGeom>
        </p:spPr>
      </p:pic>
      <p:sp>
        <p:nvSpPr>
          <p:cNvPr id="14" name="Text 10"/>
          <p:cNvSpPr/>
          <p:nvPr/>
        </p:nvSpPr>
        <p:spPr>
          <a:xfrm>
            <a:off x="7269480" y="3447288"/>
            <a:ext cx="3840480" cy="411480"/>
          </a:xfrm>
          <a:prstGeom prst="rect">
            <a:avLst/>
          </a:prstGeom>
          <a:noFill/>
          <a:ln/>
        </p:spPr>
        <p:txBody>
          <a:bodyPr wrap="square" lIns="0" tIns="0" rIns="0" bIns="0" rtlCol="0" anchor="ctr"/>
          <a:lstStyle/>
          <a:p>
            <a:pPr indent="0" marL="0">
              <a:buNone/>
            </a:pPr>
            <a:r>
              <a:rPr lang="en-US" sz="1600" b="1" dirty="0">
                <a:solidFill>
                  <a:srgbClr val="0F3D3E"/>
                </a:solidFill>
                <a:latin typeface="Calibri" pitchFamily="34" charset="0"/>
                <a:ea typeface="Calibri" pitchFamily="34" charset="-122"/>
                <a:cs typeface="Calibri" pitchFamily="34" charset="-120"/>
              </a:rPr>
              <a:t>3º Ano</a:t>
            </a:r>
            <a:endParaRPr lang="en-US" sz="1600" dirty="0"/>
          </a:p>
        </p:txBody>
      </p:sp>
      <p:sp>
        <p:nvSpPr>
          <p:cNvPr id="15" name="Text 11"/>
          <p:cNvSpPr/>
          <p:nvPr/>
        </p:nvSpPr>
        <p:spPr>
          <a:xfrm>
            <a:off x="6629400" y="4069080"/>
            <a:ext cx="4480560" cy="914400"/>
          </a:xfrm>
          <a:prstGeom prst="rect">
            <a:avLst/>
          </a:prstGeom>
          <a:noFill/>
          <a:ln/>
        </p:spPr>
        <p:txBody>
          <a:bodyPr wrap="square" lIns="0" tIns="0" rIns="0" bIns="0" rtlCol="0" anchor="ctr"/>
          <a:lstStyle/>
          <a:p>
            <a:pPr indent="0" marL="0">
              <a:lnSpc>
                <a:spcPct val="125000"/>
              </a:lnSpc>
              <a:buNone/>
            </a:pPr>
            <a:r>
              <a:rPr lang="en-US" sz="1300" dirty="0">
                <a:solidFill>
                  <a:srgbClr val="5B6E70"/>
                </a:solidFill>
                <a:latin typeface="Calibri" pitchFamily="34" charset="0"/>
                <a:ea typeface="Calibri" pitchFamily="34" charset="-122"/>
                <a:cs typeface="Calibri" pitchFamily="34" charset="-120"/>
              </a:rPr>
              <a:t>Desenvolver materiais que conectem procedimentos algébricos à sua interpretação conceitual, reduzindo a aplicação mecânica de fórmulas.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3D3E"/>
        </a:solidFill>
      </p:bgPr>
    </p:bg>
    <p:spTree>
      <p:nvGrpSpPr>
        <p:cNvPr id="1" name=""/>
        <p:cNvGrpSpPr/>
        <p:nvPr/>
      </p:nvGrpSpPr>
      <p:grpSpPr>
        <a:xfrm>
          <a:off x="0" y="0"/>
          <a:ext cx="0" cy="0"/>
          <a:chOff x="0" y="0"/>
          <a:chExt cx="0" cy="0"/>
        </a:xfrm>
      </p:grpSpPr>
      <p:sp>
        <p:nvSpPr>
          <p:cNvPr id="2" name="Shape 0"/>
          <p:cNvSpPr/>
          <p:nvPr/>
        </p:nvSpPr>
        <p:spPr>
          <a:xfrm>
            <a:off x="8686800" y="4114800"/>
            <a:ext cx="4572000" cy="4572000"/>
          </a:xfrm>
          <a:prstGeom prst="ellipse">
            <a:avLst/>
          </a:prstGeom>
          <a:solidFill>
            <a:srgbClr val="1C6E6F">
              <a:alpha val="35000"/>
            </a:srgbClr>
          </a:solidFill>
          <a:ln/>
        </p:spPr>
      </p:sp>
      <p:sp>
        <p:nvSpPr>
          <p:cNvPr id="3" name="Text 1"/>
          <p:cNvSpPr/>
          <p:nvPr/>
        </p:nvSpPr>
        <p:spPr>
          <a:xfrm>
            <a:off x="822960" y="1463040"/>
            <a:ext cx="9144000" cy="548640"/>
          </a:xfrm>
          <a:prstGeom prst="rect">
            <a:avLst/>
          </a:prstGeom>
          <a:noFill/>
          <a:ln/>
        </p:spPr>
        <p:txBody>
          <a:bodyPr wrap="square" lIns="0" tIns="0" rIns="0" bIns="0" rtlCol="0" anchor="ctr"/>
          <a:lstStyle/>
          <a:p>
            <a:pPr indent="0" marL="0">
              <a:buNone/>
            </a:pPr>
            <a:r>
              <a:rPr lang="en-US" sz="1400" b="1" spc="200" kern="0" dirty="0">
                <a:solidFill>
                  <a:srgbClr val="5FA8A0"/>
                </a:solidFill>
                <a:latin typeface="Calibri" pitchFamily="34" charset="0"/>
                <a:ea typeface="Calibri" pitchFamily="34" charset="-122"/>
                <a:cs typeface="Calibri" pitchFamily="34" charset="-120"/>
              </a:rPr>
              <a:t>Acompanhamento público do projeto</a:t>
            </a:r>
            <a:endParaRPr lang="en-US" sz="1400" dirty="0"/>
          </a:p>
        </p:txBody>
      </p:sp>
      <p:sp>
        <p:nvSpPr>
          <p:cNvPr id="4" name="Text 2"/>
          <p:cNvSpPr/>
          <p:nvPr/>
        </p:nvSpPr>
        <p:spPr>
          <a:xfrm>
            <a:off x="822960" y="1965960"/>
            <a:ext cx="9144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Registro contínuo no GitHub</a:t>
            </a:r>
            <a:endParaRPr lang="en-US" sz="3200" dirty="0"/>
          </a:p>
        </p:txBody>
      </p:sp>
      <p:sp>
        <p:nvSpPr>
          <p:cNvPr id="5" name="Shape 3"/>
          <p:cNvSpPr/>
          <p:nvPr/>
        </p:nvSpPr>
        <p:spPr>
          <a:xfrm>
            <a:off x="822960" y="2971800"/>
            <a:ext cx="6858000" cy="1920240"/>
          </a:xfrm>
          <a:prstGeom prst="roundRect">
            <a:avLst>
              <a:gd name="adj" fmla="val 3810"/>
            </a:avLst>
          </a:prstGeom>
          <a:solidFill>
            <a:srgbClr val="FFFFFF"/>
          </a:solidFill>
          <a:ln/>
          <a:effectLst>
            <a:outerShdw sx="100000" sy="100000" kx="0" ky="0" algn="bl" rotWithShape="0" blurRad="101600" dist="38100" dir="27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1188720" y="3429000"/>
            <a:ext cx="822960" cy="822960"/>
          </a:xfrm>
          <a:prstGeom prst="rect">
            <a:avLst/>
          </a:prstGeom>
        </p:spPr>
      </p:pic>
      <p:sp>
        <p:nvSpPr>
          <p:cNvPr id="7" name="Text 4"/>
          <p:cNvSpPr/>
          <p:nvPr/>
        </p:nvSpPr>
        <p:spPr>
          <a:xfrm>
            <a:off x="2286000" y="3383280"/>
            <a:ext cx="5029200" cy="457200"/>
          </a:xfrm>
          <a:prstGeom prst="rect">
            <a:avLst/>
          </a:prstGeom>
          <a:noFill/>
          <a:ln/>
        </p:spPr>
        <p:txBody>
          <a:bodyPr wrap="square" lIns="0" tIns="0" rIns="0" bIns="0" rtlCol="0" anchor="ctr"/>
          <a:lstStyle/>
          <a:p>
            <a:pPr indent="0" marL="0">
              <a:buNone/>
            </a:pPr>
            <a:r>
              <a:rPr lang="en-US" sz="1700" b="1" dirty="0">
                <a:solidFill>
                  <a:srgbClr val="0F3D3E"/>
                </a:solidFill>
                <a:latin typeface="Calibri" pitchFamily="34" charset="0"/>
                <a:ea typeface="Calibri" pitchFamily="34" charset="-122"/>
                <a:cs typeface="Calibri" pitchFamily="34" charset="-120"/>
              </a:rPr>
              <a:t>github.com/YushiPy/MAC0213</a:t>
            </a:r>
            <a:endParaRPr lang="en-US" sz="1700" dirty="0"/>
          </a:p>
        </p:txBody>
      </p:sp>
      <p:sp>
        <p:nvSpPr>
          <p:cNvPr id="8" name="Text 5"/>
          <p:cNvSpPr/>
          <p:nvPr/>
        </p:nvSpPr>
        <p:spPr>
          <a:xfrm>
            <a:off x="2286000" y="3840480"/>
            <a:ext cx="5029200" cy="914400"/>
          </a:xfrm>
          <a:prstGeom prst="rect">
            <a:avLst/>
          </a:prstGeom>
          <a:noFill/>
          <a:ln/>
        </p:spPr>
        <p:txBody>
          <a:bodyPr wrap="square" lIns="0" tIns="0" rIns="0" bIns="0" rtlCol="0" anchor="ctr"/>
          <a:lstStyle/>
          <a:p>
            <a:pPr indent="0" marL="0">
              <a:lnSpc>
                <a:spcPct val="125000"/>
              </a:lnSpc>
              <a:buNone/>
            </a:pPr>
            <a:r>
              <a:rPr lang="en-US" sz="1250" dirty="0">
                <a:solidFill>
                  <a:srgbClr val="5B6E70"/>
                </a:solidFill>
                <a:latin typeface="Calibri" pitchFamily="34" charset="0"/>
                <a:ea typeface="Calibri" pitchFamily="34" charset="-122"/>
                <a:cs typeface="Calibri" pitchFamily="34" charset="-120"/>
              </a:rPr>
              <a:t>Cada visita foi documentada por um commit individual no README.md, totalizando o registro contínuo das atividades ao longo do semestre.</a:t>
            </a:r>
            <a:endParaRPr lang="en-US" sz="1250" dirty="0"/>
          </a:p>
        </p:txBody>
      </p:sp>
      <p:sp>
        <p:nvSpPr>
          <p:cNvPr id="9" name="Text 6"/>
          <p:cNvSpPr/>
          <p:nvPr/>
        </p:nvSpPr>
        <p:spPr>
          <a:xfrm>
            <a:off x="822960" y="5303520"/>
            <a:ext cx="5486400" cy="640080"/>
          </a:xfrm>
          <a:prstGeom prst="rect">
            <a:avLst/>
          </a:prstGeom>
          <a:noFill/>
          <a:ln/>
        </p:spPr>
        <p:txBody>
          <a:bodyPr wrap="square" lIns="0" tIns="0" rIns="0" bIns="0" rtlCol="0" anchor="ctr"/>
          <a:lstStyle/>
          <a:p>
            <a:pPr indent="0" marL="0">
              <a:buNone/>
            </a:pPr>
            <a:r>
              <a:rPr lang="en-US" sz="2600" b="1" dirty="0">
                <a:solidFill>
                  <a:srgbClr val="E8A33D"/>
                </a:solidFill>
                <a:latin typeface="Cambria" pitchFamily="34" charset="0"/>
                <a:ea typeface="Cambria" pitchFamily="34" charset="-122"/>
                <a:cs typeface="Cambria" pitchFamily="34" charset="-120"/>
              </a:rPr>
              <a:t>Obrigado!</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Monitoria de Matemática na Escola Estadual Ibrahim Nobre</dc:title>
  <dc:subject>PptxGenJS Presentation</dc:subject>
  <dc:creator>Gabriel Freire Ushijima</dc:creator>
  <cp:lastModifiedBy>Gabriel Freire Ushijima</cp:lastModifiedBy>
  <cp:revision>1</cp:revision>
  <dcterms:created xsi:type="dcterms:W3CDTF">2026-06-17T13:58:36Z</dcterms:created>
  <dcterms:modified xsi:type="dcterms:W3CDTF">2026-06-17T13:58:36Z</dcterms:modified>
</cp:coreProperties>
</file>